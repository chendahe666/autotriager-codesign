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0c64ea62f6b4910" /><Relationship Type="http://schemas.openxmlformats.org/officeDocument/2006/relationships/extended-properties" Target="/docProps/app.xml" Id="R25743a93ec984c05" /><Relationship Type="http://schemas.openxmlformats.org/officeDocument/2006/relationships/officeDocument" Target="/ppt/presentation.xml" Id="Rd548f9373e4848e5" /></Relationships>
</file>

<file path=ppt/presentation.xml><?xml version="1.0" encoding="utf-8"?>
<p:presentation xmlns:p="http://schemas.openxmlformats.org/presentationml/2006/main">
  <p:sldMasterIdLst>
    <p:sldMasterId xmlns:r="http://schemas.openxmlformats.org/officeDocument/2006/relationships" id="2147483648" r:id="R88d99278a05545d5"/>
  </p:sldMasterIdLst>
  <p:notesMasterIdLst>
    <p:notesMasterId xmlns:r="http://schemas.openxmlformats.org/officeDocument/2006/relationships" r:id="Raebcb697068648c2"/>
  </p:notesMasterIdLst>
  <p:sldIdLst>
    <p:sldId xmlns:r="http://schemas.openxmlformats.org/officeDocument/2006/relationships" id="256" r:id="Rd0a1cb2e5530450f"/>
    <p:sldId xmlns:r="http://schemas.openxmlformats.org/officeDocument/2006/relationships" id="257" r:id="Raa5510fb1a39489b"/>
    <p:sldId xmlns:r="http://schemas.openxmlformats.org/officeDocument/2006/relationships" id="258" r:id="R5efa619a319140a2"/>
    <p:sldId xmlns:r="http://schemas.openxmlformats.org/officeDocument/2006/relationships" id="259" r:id="R1455fd85f7ee4f0d"/>
    <p:sldId xmlns:r="http://schemas.openxmlformats.org/officeDocument/2006/relationships" id="260" r:id="Rc3ac5f31f1584b3f"/>
    <p:sldId xmlns:r="http://schemas.openxmlformats.org/officeDocument/2006/relationships" id="261" r:id="R6fcc1462ca944917"/>
    <p:sldId xmlns:r="http://schemas.openxmlformats.org/officeDocument/2006/relationships" id="262" r:id="Reeb8c074aa3c480c"/>
    <p:sldId xmlns:r="http://schemas.openxmlformats.org/officeDocument/2006/relationships" id="263" r:id="R66a441718f9f4a26"/>
    <p:sldId xmlns:r="http://schemas.openxmlformats.org/officeDocument/2006/relationships" id="264" r:id="R874340b1b4d14251"/>
    <p:sldId xmlns:r="http://schemas.openxmlformats.org/officeDocument/2006/relationships" id="265" r:id="R5eab9d1f399b4ec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7bca29a4ddc48d4" /><Relationship Type="http://schemas.openxmlformats.org/officeDocument/2006/relationships/slideMaster" Target="/ppt/slideMasters/slideMaster1.xml" Id="R88d99278a05545d5" /><Relationship Type="http://schemas.openxmlformats.org/officeDocument/2006/relationships/notesMaster" Target="/ppt/notesMasters/notesMaster1.xml" Id="Raebcb697068648c2" /><Relationship Type="http://schemas.openxmlformats.org/officeDocument/2006/relationships/presProps" Target="/ppt/presProps.xml" Id="R116970a584a2401b" /><Relationship Type="http://schemas.openxmlformats.org/officeDocument/2006/relationships/tableStyles" Target="/ppt/tableStyles.xml" Id="R06caa263775345e1" /><Relationship Type="http://schemas.openxmlformats.org/officeDocument/2006/relationships/slide" Target="/ppt/slides/slide1.xml" Id="Rd0a1cb2e5530450f" /><Relationship Type="http://schemas.openxmlformats.org/officeDocument/2006/relationships/slide" Target="/ppt/slides/slide2.xml" Id="Raa5510fb1a39489b" /><Relationship Type="http://schemas.openxmlformats.org/officeDocument/2006/relationships/slide" Target="/ppt/slides/slide3.xml" Id="R5efa619a319140a2" /><Relationship Type="http://schemas.openxmlformats.org/officeDocument/2006/relationships/slide" Target="/ppt/slides/slide4.xml" Id="R1455fd85f7ee4f0d" /><Relationship Type="http://schemas.openxmlformats.org/officeDocument/2006/relationships/slide" Target="/ppt/slides/slide5.xml" Id="Rc3ac5f31f1584b3f" /><Relationship Type="http://schemas.openxmlformats.org/officeDocument/2006/relationships/slide" Target="/ppt/slides/slide6.xml" Id="R6fcc1462ca944917" /><Relationship Type="http://schemas.openxmlformats.org/officeDocument/2006/relationships/slide" Target="/ppt/slides/slide7.xml" Id="Reeb8c074aa3c480c" /><Relationship Type="http://schemas.openxmlformats.org/officeDocument/2006/relationships/slide" Target="/ppt/slides/slide8.xml" Id="R66a441718f9f4a26" /><Relationship Type="http://schemas.openxmlformats.org/officeDocument/2006/relationships/slide" Target="/ppt/slides/slide9.xml" Id="R874340b1b4d14251" /><Relationship Type="http://schemas.openxmlformats.org/officeDocument/2006/relationships/slide" Target="/ppt/slides/slide10.xml" Id="R5eab9d1f399b4ec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d6e0692a428434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86819262c944272" /><Relationship Type="http://schemas.openxmlformats.org/officeDocument/2006/relationships/notesMaster" Target="/ppt/notesMasters/notesMaster1.xml" Id="Rdacbbe46c9f04028" /></Relationships>
</file>

<file path=ppt/notesSlides/_rels/notesSlide2.xml.rels>&#65279;<?xml version="1.0" encoding="utf-8"?><Relationships xmlns="http://schemas.openxmlformats.org/package/2006/relationships"><Relationship Type="http://schemas.openxmlformats.org/officeDocument/2006/relationships/slide" Target="/ppt/slides/slide2.xml" Id="Ra7c878414ab84205" /><Relationship Type="http://schemas.openxmlformats.org/officeDocument/2006/relationships/notesMaster" Target="/ppt/notesMasters/notesMaster1.xml" Id="Re7cd31b04bc946bc" /></Relationships>
</file>

<file path=ppt/notesSlides/_rels/notesSlide3.xml.rels>&#65279;<?xml version="1.0" encoding="utf-8"?><Relationships xmlns="http://schemas.openxmlformats.org/package/2006/relationships"><Relationship Type="http://schemas.openxmlformats.org/officeDocument/2006/relationships/slide" Target="/ppt/slides/slide3.xml" Id="R84b7c1f5da284927" /><Relationship Type="http://schemas.openxmlformats.org/officeDocument/2006/relationships/notesMaster" Target="/ppt/notesMasters/notesMaster1.xml" Id="Ref41a90dd67d49e9" /></Relationships>
</file>

<file path=ppt/notesSlides/_rels/notesSlide4.xml.rels>&#65279;<?xml version="1.0" encoding="utf-8"?><Relationships xmlns="http://schemas.openxmlformats.org/package/2006/relationships"><Relationship Type="http://schemas.openxmlformats.org/officeDocument/2006/relationships/slide" Target="/ppt/slides/slide4.xml" Id="Rc45bd81f81374bd5" /><Relationship Type="http://schemas.openxmlformats.org/officeDocument/2006/relationships/notesMaster" Target="/ppt/notesMasters/notesMaster1.xml" Id="R62525a48812749f3" /></Relationships>
</file>

<file path=ppt/notesSlides/_rels/notesSlide5.xml.rels>&#65279;<?xml version="1.0" encoding="utf-8"?><Relationships xmlns="http://schemas.openxmlformats.org/package/2006/relationships"><Relationship Type="http://schemas.openxmlformats.org/officeDocument/2006/relationships/slide" Target="/ppt/slides/slide5.xml" Id="Rdd7613a3610d454f" /><Relationship Type="http://schemas.openxmlformats.org/officeDocument/2006/relationships/notesMaster" Target="/ppt/notesMasters/notesMaster1.xml" Id="Rff92e47b88a24a34" /></Relationships>
</file>

<file path=ppt/notesSlides/_rels/notesSlide6.xml.rels>&#65279;<?xml version="1.0" encoding="utf-8"?><Relationships xmlns="http://schemas.openxmlformats.org/package/2006/relationships"><Relationship Type="http://schemas.openxmlformats.org/officeDocument/2006/relationships/slide" Target="/ppt/slides/slide6.xml" Id="R608f95ffc69648c4" /><Relationship Type="http://schemas.openxmlformats.org/officeDocument/2006/relationships/notesMaster" Target="/ppt/notesMasters/notesMaster1.xml" Id="Re2b43b14a5b9420d" /></Relationships>
</file>

<file path=ppt/notesSlides/_rels/notesSlide7.xml.rels>&#65279;<?xml version="1.0" encoding="utf-8"?><Relationships xmlns="http://schemas.openxmlformats.org/package/2006/relationships"><Relationship Type="http://schemas.openxmlformats.org/officeDocument/2006/relationships/slide" Target="/ppt/slides/slide7.xml" Id="R1a6a527302754832" /><Relationship Type="http://schemas.openxmlformats.org/officeDocument/2006/relationships/notesMaster" Target="/ppt/notesMasters/notesMaster1.xml" Id="R7b40843e20e740b1" /></Relationships>
</file>

<file path=ppt/notesSlides/_rels/notesSlide8.xml.rels>&#65279;<?xml version="1.0" encoding="utf-8"?><Relationships xmlns="http://schemas.openxmlformats.org/package/2006/relationships"><Relationship Type="http://schemas.openxmlformats.org/officeDocument/2006/relationships/slide" Target="/ppt/slides/slide8.xml" Id="R86038cf3f4ca461b" /><Relationship Type="http://schemas.openxmlformats.org/officeDocument/2006/relationships/notesMaster" Target="/ppt/notesMasters/notesMaster1.xml" Id="R2a3ab8b1233440e1" /></Relationships>
</file>

<file path=ppt/notesSlides/_rels/notesSlide9.xml.rels>&#65279;<?xml version="1.0" encoding="utf-8"?><Relationships xmlns="http://schemas.openxmlformats.org/package/2006/relationships"><Relationship Type="http://schemas.openxmlformats.org/officeDocument/2006/relationships/slide" Target="/ppt/slides/slide9.xml" Id="R7aad33e8a62c4371" /><Relationship Type="http://schemas.openxmlformats.org/officeDocument/2006/relationships/notesMaster" Target="/ppt/notesMasters/notesMaster1.xml" Id="Rda406354cee34b5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0189db17bf24fd8" /><Relationship Type="http://schemas.openxmlformats.org/officeDocument/2006/relationships/notesMaster" Target="/ppt/notesMasters/notesMaster1.xml" Id="Rdcaf1f6e1a86402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P1 combines loading actual incident data with running an existing analysis method. The delivered feature includes basic evidence inspection and human review. This is a course engineering implementation, with no claim of production validation or a new RCA algorithm.</a:t>
            </a:r>
          </a:p>
          <a:p xmlns:a="http://schemas.openxmlformats.org/drawingml/2006/main">
            <a:r>
              <a:t/>
            </a:r>
          </a:p>
          <a:p xmlns:a="http://schemas.openxmlformats.org/drawingml/2006/main">
            <a:r>
              <a:t>Sources</a:t>
            </a:r>
          </a:p>
          <a:p xmlns:a="http://schemas.openxmlformats.org/drawingml/2006/main">
            <a:r>
              <a:t>https://github.com/chendahe666/AutoTriager-CoDesign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candidate explanation is an investigation lead. A matching benchmark answer is not proof that a causal account is complete. The chosen slice is small enough to demonstrate and test before richer cross-component interaction.</a:t>
            </a:r>
          </a:p>
          <a:p xmlns:a="http://schemas.openxmlformats.org/drawingml/2006/main">
            <a:r>
              <a:t/>
            </a:r>
          </a:p>
          <a:p xmlns:a="http://schemas.openxmlformats.org/drawingml/2006/main">
            <a:r>
              <a:t>Sources</a:t>
            </a:r>
          </a:p>
          <a:p xmlns:a="http://schemas.openxmlformats.org/drawingml/2006/main">
            <a:r>
              <a:t>https://github.com/microsoft/OpenRCA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student defined priorities, language, cost and interaction. Codex wrote and tested the implementation. Browser feedback in screenshots is explicitly marked as an automated test, not student acceptance. Runtime adaptation decisions and failed tests are documented in the repository.</a:t>
            </a:r>
          </a:p>
          <a:p xmlns:a="http://schemas.openxmlformats.org/drawingml/2006/main">
            <a:r>
              <a:t/>
            </a:r>
          </a:p>
          <a:p xmlns:a="http://schemas.openxmlformats.org/drawingml/2006/main">
            <a:r>
              <a:t>Sources</a:t>
            </a:r>
          </a:p>
          <a:p xmlns:a="http://schemas.openxmlformats.org/drawingml/2006/main">
            <a:r>
              <a:t>https://github.com/chendahe666/AutoTriager-CoDesign/blob/main/docs/Implementation_Decisions.md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application reuses upstream evidence functions and tools. Its own loop replaces the original forced-answer and fallback behavior. It permits unresolved fields and does not use an API failure as a reason to generate a deterministic diagnosis. Scoring labels remain outside runtime inputs.</a:t>
            </a:r>
          </a:p>
          <a:p xmlns:a="http://schemas.openxmlformats.org/drawingml/2006/main">
            <a:r>
              <a:t/>
            </a:r>
          </a:p>
          <a:p xmlns:a="http://schemas.openxmlformats.org/drawingml/2006/main">
            <a:r>
              <a:t>Sources</a:t>
            </a:r>
          </a:p>
          <a:p xmlns:a="http://schemas.openxmlformats.org/drawingml/2006/main">
            <a:r>
              <a:t>https://github.com/yuhao541/EviRCA</a:t>
            </a:r>
          </a:p>
          <a:p xmlns:a="http://schemas.openxmlformats.org/drawingml/2006/main">
            <a:r>
              <a:t>https://github.com/chendahe666/AutoTriager-CoDesign/blob/main/autotriager/analysis.py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OpenRCA revision c1bd4af7f635171a1c31cdd567c07d698dff6abc. EviRCA revision bc11c06932717751f68b8ed7da6d31f5c23c952c. Two full days were obtained from the official archive using partial downloads, with local hashes and CRC verification. The cases are development examples already discussed in planning. The EviRCA revision has no license file; its code is fetched separately and is not republished. Gemini free-tier availability was checked and actual API calls were made. The project does not claim exact reproduction.</a:t>
            </a:r>
          </a:p>
          <a:p xmlns:a="http://schemas.openxmlformats.org/drawingml/2006/main">
            <a:r>
              <a:t/>
            </a:r>
          </a:p>
          <a:p xmlns:a="http://schemas.openxmlformats.org/drawingml/2006/main">
            <a:r>
              <a:t>Sources</a:t>
            </a:r>
          </a:p>
          <a:p xmlns:a="http://schemas.openxmlformats.org/drawingml/2006/main">
            <a:r>
              <a:t>https://github.com/microsoft/OpenRCA</a:t>
            </a:r>
          </a:p>
          <a:p xmlns:a="http://schemas.openxmlformats.org/drawingml/2006/main">
            <a:r>
              <a:t>https://github.com/yuhao541/EviRCA</a:t>
            </a:r>
          </a:p>
          <a:p xmlns:a="http://schemas.openxmlformats.org/drawingml/2006/main">
            <a:r>
              <a:t>https://ai.google.dev/gemini-api/docs/pricing</a:t>
            </a:r>
          </a:p>
          <a:p xmlns:a="http://schemas.openxmlformats.org/drawingml/2006/main">
            <a:r>
              <a:t>https://drive.google.com/drive/folders/1wGiEnu4OkWrjPxfx5ZTROnU37-5UDoPM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screenshot comes from a real browser run against the real Gemini API, not a mockup or preloaded answer. The UI uses the selected language for a new analysis and preserves existing output language when switching labels. The app requires local data and an API key; it is not publicly hosted.</a:t>
            </a:r>
          </a:p>
          <a:p xmlns:a="http://schemas.openxmlformats.org/drawingml/2006/main">
            <a:r>
              <a:t/>
            </a:r>
          </a:p>
          <a:p xmlns:a="http://schemas.openxmlformats.org/drawingml/2006/main">
            <a:r>
              <a:t>Sources</a:t>
            </a:r>
          </a:p>
          <a:p xmlns:a="http://schemas.openxmlformats.org/drawingml/2006/main">
            <a:r>
              <a:t>https://github.com/chendahe666/AutoTriager-CoDesign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319be82eec24. Original file data/Bank/telemetry/2021_03_04/metric/metric_container.csv. The record is 1-based excluding the header. Timestamp 1614852840, component Redis02, KPI OSLinux-OSLinux_MEMORY_MEMORY_NoCacheMemPerc, value 92.6839. Upstream displays the rounded peak 92.684. The requested fields are component and reason, not onset. The scorer awards 1.0. Full output and observations are local run artifacts. Source linkage verifies the observation, not the entire causal narrative.</a:t>
            </a:r>
          </a:p>
          <a:p xmlns:a="http://schemas.openxmlformats.org/drawingml/2006/main">
            <a:r>
              <a:t/>
            </a:r>
          </a:p>
          <a:p xmlns:a="http://schemas.openxmlformats.org/drawingml/2006/main">
            <a:r>
              <a:t>Sources</a:t>
            </a:r>
          </a:p>
          <a:p xmlns:a="http://schemas.openxmlformats.org/drawingml/2006/main">
            <a:r>
              <a:t>https://github.com/microsoft/OpenRCA/blob/main/main/evaluate.py</a:t>
            </a:r>
          </a:p>
          <a:p xmlns:a="http://schemas.openxmlformats.org/drawingml/2006/main">
            <a:r>
              <a:t>https://github.com/chendahe666/AutoTriager-CoDesign/blob/main/docs/Validation_Report.md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judgment is associated with a run ID and retained within the session. The browser test checks language switching, export and case switching. It exposed a form-restoration bug, which was corrected and retested. A judgment is not treated as a benchmark label or training data.</a:t>
            </a:r>
          </a:p>
          <a:p xmlns:a="http://schemas.openxmlformats.org/drawingml/2006/main">
            <a:r>
              <a:t/>
            </a:r>
          </a:p>
          <a:p xmlns:a="http://schemas.openxmlformats.org/drawingml/2006/main">
            <a:r>
              <a:t>Sources</a:t>
            </a:r>
          </a:p>
          <a:p xmlns:a="http://schemas.openxmlformats.org/drawingml/2006/main">
            <a:r>
              <a:t>https://github.com/chendahe666/AutoTriager-CoDesign/blob/main/autotriager/state.py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Bank 004 run 61d22bf8c6fa took 155.72 seconds. Correct component, unresolved required reason: score 0.5. Two cases, nine engineering checks, no held-out accuracy claim. An earlier run rejected system-level golden-signal evidence because it had no component ID; the validator now permits this supporting evidence but still requires at least one component-specific source. Earlier API failures remain in the report and score zero. The final real browser check passed for run d6c075bd0a6d.</a:t>
            </a:r>
          </a:p>
          <a:p xmlns:a="http://schemas.openxmlformats.org/drawingml/2006/main">
            <a:r>
              <a:t/>
            </a:r>
          </a:p>
          <a:p xmlns:a="http://schemas.openxmlformats.org/drawingml/2006/main">
            <a:r>
              <a:t>Sources</a:t>
            </a:r>
          </a:p>
          <a:p xmlns:a="http://schemas.openxmlformats.org/drawingml/2006/main">
            <a:r>
              <a:t>https://github.com/microsoft/OpenRCA/blob/main/main/evaluate.py</a:t>
            </a:r>
          </a:p>
          <a:p xmlns:a="http://schemas.openxmlformats.org/drawingml/2006/main">
            <a:r>
              <a:t>https://github.com/chendahe666/AutoTriager-CoDesign/blob/main/docs/Validation_Report.md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later stage is a feature plus evaluation, not a technology label. RAG or additional agents are options only if they address a demonstrated limitation. Controlled missing-data variants must be labeled as such rather than represented as new natural incidents. Multi-system support remains optional. User acceptance and final course submission are pending human review.</a:t>
            </a:r>
          </a:p>
          <a:p xmlns:a="http://schemas.openxmlformats.org/drawingml/2006/main">
            <a:r>
              <a:t/>
            </a:r>
          </a:p>
          <a:p xmlns:a="http://schemas.openxmlformats.org/drawingml/2006/main">
            <a:r>
              <a:t>Sources</a:t>
            </a:r>
          </a:p>
          <a:p xmlns:a="http://schemas.openxmlformats.org/drawingml/2006/main">
            <a:r>
              <a:t>https://github.com/chendahe666/AutoTriager-CoDesign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44664708c044df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ded1fb4556b43fc" /><Relationship Type="http://schemas.openxmlformats.org/officeDocument/2006/relationships/slideLayout" Target="/ppt/slideLayouts/slideLayout1.xml" Id="R9aeb77be3f73407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aeb77be3f73407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a61448654ba48ac" /><Relationship Type="http://schemas.openxmlformats.org/officeDocument/2006/relationships/notesSlide" Target="/ppt/notesSlides/notesSlide1.xml" Id="R1f14f82a75b74fb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3f7b17d1ea04c73" /><Relationship Type="http://schemas.openxmlformats.org/officeDocument/2006/relationships/notesSlide" Target="/ppt/notesSlides/notesSlide2.xml" Id="Red711949f67849b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af2d15a16d84fc9" /><Relationship Type="http://schemas.openxmlformats.org/officeDocument/2006/relationships/notesSlide" Target="/ppt/notesSlides/notesSlide3.xml" Id="Recd94a764cd342c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be4e220748f402b" /><Relationship Type="http://schemas.openxmlformats.org/officeDocument/2006/relationships/notesSlide" Target="/ppt/notesSlides/notesSlide4.xml" Id="R417310da9e6a411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f9c411a51204c68" /><Relationship Type="http://schemas.openxmlformats.org/officeDocument/2006/relationships/notesSlide" Target="/ppt/notesSlides/notesSlide5.xml" Id="Ra4991bb2c9c446d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3b20124f3524c3a" /><Relationship Type="http://schemas.openxmlformats.org/officeDocument/2006/relationships/image" Target="/ppt/media/image.png" Id="Rc7fa9aea478f42d6" /><Relationship Type="http://schemas.openxmlformats.org/officeDocument/2006/relationships/notesSlide" Target="/ppt/notesSlides/notesSlide6.xml" Id="R8b82585404044a5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36e1ed37768443b" /><Relationship Type="http://schemas.openxmlformats.org/officeDocument/2006/relationships/notesSlide" Target="/ppt/notesSlides/notesSlide7.xml" Id="Ra8942885dbf3485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afd4b0084a34d14" /><Relationship Type="http://schemas.openxmlformats.org/officeDocument/2006/relationships/image" Target="/ppt/media/image2.png" Id="R5c084748e311425a" /><Relationship Type="http://schemas.openxmlformats.org/officeDocument/2006/relationships/notesSlide" Target="/ppt/notesSlides/notesSlide8.xml" Id="Red7a34e4bf454c5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4a03a312b61435b" /><Relationship Type="http://schemas.openxmlformats.org/officeDocument/2006/relationships/notesSlide" Target="/ppt/notesSlides/notesSlide9.xml" Id="Ra07e40628c4a41b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6b34dc540cc4a6c" /><Relationship Type="http://schemas.openxmlformats.org/officeDocument/2006/relationships/notesSlide" Target="/ppt/notesSlides/notesSlide10.xml" Id="R99a52f84b14945d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DEDE1218-27B7-445E-A496-0D9ABD0067E3}"/>
              </a:ext>
            </a:extLst>
          </p:cNvPr>
          <p:cNvSpPr>
            <a:spLocks xmlns:a="http://schemas.openxmlformats.org/drawingml/2006/main" noGrp="1"/>
          </p:cNvSpPr>
          <p:nvPr/>
        </p:nvSpPr>
        <p:spPr>
          <a:xfrm xmlns:a="http://schemas.openxmlformats.org/drawingml/2006/main">
            <a:off x="647700" y="42862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11111"/>
                </a:solidFill>
                <a:latin typeface="Arial"/>
                <a:ea typeface="Arial"/>
                <a:cs typeface="Arial"/>
              </a:defRPr>
            </a:pPr>
            <a:r>
              <a:rPr sz="3225" b="1">
                <a:solidFill>
                  <a:srgbClr val="111111"/>
                </a:solidFill>
                <a:latin typeface="Arial"/>
                <a:ea typeface="Arial"/>
                <a:cs typeface="Arial"/>
              </a:rPr>
              <a:t>AutoTriager</a:t>
            </a:r>
          </a:p>
        </p:txBody>
      </p:sp>
      <p:sp>
        <p:nvSpPr>
          <p:cNvPr id="2" name="page">
            <a:extLst xmlns:a="http://schemas.openxmlformats.org/drawingml/2006/main">
              <a:ext uri="{FF2B5EF4-FFF2-40B4-BE49-F238E27FC236}">
                <a16:creationId xmlns:a16="http://schemas.microsoft.com/office/drawing/2014/main" id="{39D5E9EB-5C73-4DE3-9C92-E4F10B7CB074}"/>
              </a:ext>
            </a:extLst>
          </p:cNvPr>
          <p:cNvSpPr>
            <a:spLocks xmlns:a="http://schemas.openxmlformats.org/drawingml/2006/main" noGrp="1"/>
          </p:cNvSpPr>
          <p:nvPr/>
        </p:nvSpPr>
        <p:spPr>
          <a:xfrm xmlns:a="http://schemas.openxmlformats.org/drawingml/2006/main">
            <a:off x="11049000" y="64198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666666"/>
                </a:solidFill>
                <a:latin typeface="Arial"/>
                <a:ea typeface="Arial"/>
                <a:cs typeface="Arial"/>
              </a:defRPr>
            </a:pPr>
            <a:r>
              <a:rPr sz="1350" b="0">
                <a:solidFill>
                  <a:srgbClr val="666666"/>
                </a:solidFill>
                <a:latin typeface="Arial"/>
                <a:ea typeface="Arial"/>
                <a:cs typeface="Arial"/>
              </a:rPr>
              <a:t>01</a:t>
            </a:r>
          </a:p>
        </p:txBody>
      </p:sp>
      <p:sp>
        <p:nvSpPr>
          <p:cNvPr id="3" name="subtitle">
            <a:extLst xmlns:a="http://schemas.openxmlformats.org/drawingml/2006/main">
              <a:ext uri="{FF2B5EF4-FFF2-40B4-BE49-F238E27FC236}">
                <a16:creationId xmlns:a16="http://schemas.microsoft.com/office/drawing/2014/main" id="{99A7E83A-1E12-481F-B87E-55D8084E1765}"/>
              </a:ext>
            </a:extLst>
          </p:cNvPr>
          <p:cNvSpPr>
            <a:spLocks xmlns:a="http://schemas.openxmlformats.org/drawingml/2006/main" noGrp="1"/>
          </p:cNvSpPr>
          <p:nvPr/>
        </p:nvSpPr>
        <p:spPr>
          <a:xfrm xmlns:a="http://schemas.openxmlformats.org/drawingml/2006/main">
            <a:off x="685800" y="155257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0">
                <a:solidFill>
                  <a:srgbClr val="111111"/>
                </a:solidFill>
                <a:latin typeface="Arial"/>
                <a:ea typeface="Arial"/>
                <a:cs typeface="Arial"/>
              </a:defRPr>
            </a:pPr>
            <a:r>
              <a:rPr sz="2550" b="0">
                <a:solidFill>
                  <a:srgbClr val="111111"/>
                </a:solidFill>
                <a:latin typeface="Arial"/>
                <a:ea typeface="Arial"/>
                <a:cs typeface="Arial"/>
              </a:rPr>
              <a:t>Evidence-grounded incident investigation</a:t>
            </a:r>
          </a:p>
        </p:txBody>
      </p:sp>
      <p:sp>
        <p:nvSpPr>
          <p:cNvPr id="4" name="author">
            <a:extLst xmlns:a="http://schemas.openxmlformats.org/drawingml/2006/main">
              <a:ext uri="{FF2B5EF4-FFF2-40B4-BE49-F238E27FC236}">
                <a16:creationId xmlns:a16="http://schemas.microsoft.com/office/drawing/2014/main" id="{E9295536-A413-40F9-A033-F5652A1CEBD6}"/>
              </a:ext>
            </a:extLst>
          </p:cNvPr>
          <p:cNvSpPr>
            <a:spLocks xmlns:a="http://schemas.openxmlformats.org/drawingml/2006/main" noGrp="1"/>
          </p:cNvSpPr>
          <p:nvPr/>
        </p:nvSpPr>
        <p:spPr>
          <a:xfrm xmlns:a="http://schemas.openxmlformats.org/drawingml/2006/main">
            <a:off x="685800" y="26098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625" b="1">
                <a:solidFill>
                  <a:srgbClr val="111111"/>
                </a:solidFill>
                <a:latin typeface="Arial"/>
                <a:ea typeface="Arial"/>
                <a:cs typeface="Arial"/>
              </a:defRPr>
            </a:pPr>
            <a:r>
              <a:rPr sz="2625" b="1">
                <a:solidFill>
                  <a:srgbClr val="111111"/>
                </a:solidFill>
                <a:latin typeface="Arial"/>
                <a:ea typeface="Arial"/>
                <a:cs typeface="Arial"/>
              </a:rPr>
              <a:t>Dahe Chen</a:t>
            </a:r>
          </a:p>
        </p:txBody>
      </p:sp>
      <p:sp>
        <p:nvSpPr>
          <p:cNvPr id="5" name="course">
            <a:extLst xmlns:a="http://schemas.openxmlformats.org/drawingml/2006/main">
              <a:ext uri="{FF2B5EF4-FFF2-40B4-BE49-F238E27FC236}">
                <a16:creationId xmlns:a16="http://schemas.microsoft.com/office/drawing/2014/main" id="{874F6C19-08DC-471C-815B-F6EAEDA81CF4}"/>
              </a:ext>
            </a:extLst>
          </p:cNvPr>
          <p:cNvSpPr>
            <a:spLocks xmlns:a="http://schemas.openxmlformats.org/drawingml/2006/main" noGrp="1"/>
          </p:cNvSpPr>
          <p:nvPr/>
        </p:nvSpPr>
        <p:spPr>
          <a:xfrm xmlns:a="http://schemas.openxmlformats.org/drawingml/2006/main">
            <a:off x="685800" y="330517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111111"/>
                </a:solidFill>
                <a:latin typeface="Arial"/>
                <a:ea typeface="Arial"/>
                <a:cs typeface="Arial"/>
              </a:defRPr>
            </a:pPr>
            <a:r>
              <a:rPr sz="2025" b="0">
                <a:solidFill>
                  <a:srgbClr val="111111"/>
                </a:solidFill>
                <a:latin typeface="Arial"/>
                <a:ea typeface="Arial"/>
                <a:cs typeface="Arial"/>
              </a:rPr>
              <a:t>CS 5588: Challenge 2 Human–AI Co-Design</a:t>
            </a:r>
          </a:p>
        </p:txBody>
      </p:sp>
      <p:sp>
        <p:nvSpPr>
          <p:cNvPr id="6" name="objective">
            <a:extLst xmlns:a="http://schemas.openxmlformats.org/drawingml/2006/main">
              <a:ext uri="{FF2B5EF4-FFF2-40B4-BE49-F238E27FC236}">
                <a16:creationId xmlns:a16="http://schemas.microsoft.com/office/drawing/2014/main" id="{729ECA2C-D30B-49AB-AABC-5960C6926FDC}"/>
              </a:ext>
            </a:extLst>
          </p:cNvPr>
          <p:cNvSpPr>
            <a:spLocks xmlns:a="http://schemas.openxmlformats.org/drawingml/2006/main" noGrp="1"/>
          </p:cNvSpPr>
          <p:nvPr/>
        </p:nvSpPr>
        <p:spPr>
          <a:xfrm xmlns:a="http://schemas.openxmlformats.org/drawingml/2006/main">
            <a:off x="685800" y="4324350"/>
            <a:ext cx="102870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111111"/>
                </a:solidFill>
                <a:latin typeface="Arial"/>
                <a:ea typeface="Arial"/>
                <a:cs typeface="Arial"/>
              </a:defRPr>
            </a:pPr>
            <a:r>
              <a:rPr sz="2250" b="0">
                <a:solidFill>
                  <a:srgbClr val="111111"/>
                </a:solidFill>
                <a:latin typeface="Arial"/>
                <a:ea typeface="Arial"/>
                <a:cs typeface="Arial"/>
              </a:rPr>
              <a:t>A working local application for analyzing recorded incidents</a:t>
            </a:r>
          </a:p>
          <a:p xmlns:a="http://schemas.openxmlformats.org/drawingml/2006/main">
            <a:pPr>
              <a:defRPr sz="2250" b="0">
                <a:solidFill>
                  <a:srgbClr val="111111"/>
                </a:solidFill>
                <a:latin typeface="Arial"/>
                <a:ea typeface="Arial"/>
                <a:cs typeface="Arial"/>
              </a:defRPr>
            </a:pPr>
            <a:r>
              <a:rPr sz="2250" b="0">
                <a:solidFill>
                  <a:srgbClr val="111111"/>
                </a:solidFill>
                <a:latin typeface="Arial"/>
                <a:ea typeface="Arial"/>
                <a:cs typeface="Arial"/>
              </a:rPr>
              <a:t>and reviewing the evidence behind each candidate explanation.</a:t>
            </a:r>
          </a:p>
        </p:txBody>
      </p:sp>
      <p:sp>
        <p:nvSpPr>
          <p:cNvPr id="7" name="source">
            <a:extLst xmlns:a="http://schemas.openxmlformats.org/drawingml/2006/main">
              <a:ext uri="{FF2B5EF4-FFF2-40B4-BE49-F238E27FC236}">
                <a16:creationId xmlns:a16="http://schemas.microsoft.com/office/drawing/2014/main" id="{1A5B59B0-0701-4C29-AC86-77CB1BA569EE}"/>
              </a:ext>
            </a:extLst>
          </p:cNvPr>
          <p:cNvSpPr>
            <a:spLocks xmlns:a="http://schemas.openxmlformats.org/drawingml/2006/main" noGrp="1"/>
          </p:cNvSpPr>
          <p:nvPr/>
        </p:nvSpPr>
        <p:spPr>
          <a:xfrm xmlns:a="http://schemas.openxmlformats.org/drawingml/2006/main">
            <a:off x="666750" y="599122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55555"/>
                </a:solidFill>
                <a:latin typeface="Arial"/>
                <a:ea typeface="Arial"/>
                <a:cs typeface="Arial"/>
              </a:defRPr>
            </a:pPr>
            <a:r>
              <a:rPr sz="1350" b="0">
                <a:solidFill>
                  <a:srgbClr val="555555"/>
                </a:solidFill>
                <a:latin typeface="Arial"/>
                <a:ea typeface="Arial"/>
                <a:cs typeface="Arial"/>
              </a:rPr>
              <a:t>https://github.com/chendahe666/AutoTriager-CoDesign</a:t>
            </a:r>
          </a:p>
        </p:txBody>
      </p:sp>
    </p:spTree>
    <p:extLst>
      <p:ext uri="{BB962C8B-B14F-4D97-AF65-F5344CB8AC3E}">
        <p14:creationId xmlns:p14="http://schemas.microsoft.com/office/powerpoint/2010/main" val="98511099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58DA251-EC65-40F1-BC1C-4D818F9C2B30}"/>
              </a:ext>
            </a:extLst>
          </p:cNvPr>
          <p:cNvSpPr>
            <a:spLocks xmlns:a="http://schemas.openxmlformats.org/drawingml/2006/main" noGrp="1"/>
          </p:cNvSpPr>
          <p:nvPr/>
        </p:nvSpPr>
        <p:spPr>
          <a:xfrm xmlns:a="http://schemas.openxmlformats.org/drawingml/2006/main">
            <a:off x="647700" y="42862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11111"/>
                </a:solidFill>
                <a:latin typeface="Arial"/>
                <a:ea typeface="Arial"/>
                <a:cs typeface="Arial"/>
              </a:defRPr>
            </a:pPr>
            <a:r>
              <a:rPr sz="3225" b="1">
                <a:solidFill>
                  <a:srgbClr val="111111"/>
                </a:solidFill>
                <a:latin typeface="Arial"/>
                <a:ea typeface="Arial"/>
                <a:cs typeface="Arial"/>
              </a:rPr>
              <a:t>Problem, users and first task</a:t>
            </a:r>
          </a:p>
        </p:txBody>
      </p:sp>
      <p:sp>
        <p:nvSpPr>
          <p:cNvPr id="2" name="page">
            <a:extLst xmlns:a="http://schemas.openxmlformats.org/drawingml/2006/main">
              <a:ext uri="{FF2B5EF4-FFF2-40B4-BE49-F238E27FC236}">
                <a16:creationId xmlns:a16="http://schemas.microsoft.com/office/drawing/2014/main" id="{6433DDFF-E21D-4223-BB73-A60CB884FC1B}"/>
              </a:ext>
            </a:extLst>
          </p:cNvPr>
          <p:cNvSpPr>
            <a:spLocks xmlns:a="http://schemas.openxmlformats.org/drawingml/2006/main" noGrp="1"/>
          </p:cNvSpPr>
          <p:nvPr/>
        </p:nvSpPr>
        <p:spPr>
          <a:xfrm xmlns:a="http://schemas.openxmlformats.org/drawingml/2006/main">
            <a:off x="11049000" y="64198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666666"/>
                </a:solidFill>
                <a:latin typeface="Arial"/>
                <a:ea typeface="Arial"/>
                <a:cs typeface="Arial"/>
              </a:defRPr>
            </a:pPr>
            <a:r>
              <a:rPr sz="1350" b="0">
                <a:solidFill>
                  <a:srgbClr val="666666"/>
                </a:solidFill>
                <a:latin typeface="Arial"/>
                <a:ea typeface="Arial"/>
                <a:cs typeface="Arial"/>
              </a:rPr>
              <a:t>02</a:t>
            </a:r>
          </a:p>
        </p:txBody>
      </p:sp>
      <p:sp>
        <p:nvSpPr>
          <p:cNvPr id="3" name="bullets">
            <a:extLst xmlns:a="http://schemas.openxmlformats.org/drawingml/2006/main">
              <a:ext uri="{FF2B5EF4-FFF2-40B4-BE49-F238E27FC236}">
                <a16:creationId xmlns:a16="http://schemas.microsoft.com/office/drawing/2014/main" id="{EFF3136C-EF6F-4671-A27F-3D18A009757D}"/>
              </a:ext>
            </a:extLst>
          </p:cNvPr>
          <p:cNvSpPr>
            <a:spLocks xmlns:a="http://schemas.openxmlformats.org/drawingml/2006/main" noGrp="1"/>
          </p:cNvSpPr>
          <p:nvPr/>
        </p:nvSpPr>
        <p:spPr>
          <a:xfrm xmlns:a="http://schemas.openxmlformats.org/drawingml/2006/main">
            <a:off x="781050" y="1733550"/>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241300" indent="-127000">
              <a:spcAft>
                <a:spcPts val="1600"/>
              </a:spcAft>
              <a:buChar char="•"/>
              <a:defRPr sz="2175" b="0">
                <a:solidFill>
                  <a:srgbClr val="111111"/>
                </a:solidFill>
                <a:latin typeface="Arial"/>
                <a:ea typeface="Arial"/>
                <a:cs typeface="Arial"/>
              </a:defRPr>
            </a:pPr>
            <a:r>
              <a:rPr sz="2175" b="0">
                <a:solidFill>
                  <a:srgbClr val="111111"/>
                </a:solidFill>
                <a:latin typeface="Arial"/>
                <a:ea typeface="Arial"/>
                <a:cs typeface="Arial"/>
              </a:rPr>
              <a:t>Users: on-call developers and site reliability engineers.</a:t>
            </a:r>
          </a:p>
          <a:p xmlns:a="http://schemas.openxmlformats.org/drawingml/2006/main">
            <a:pPr marL="241300" indent="-127000">
              <a:spcAft>
                <a:spcPts val="1600"/>
              </a:spcAft>
              <a:buChar char="•"/>
              <a:defRPr sz="2175" b="0">
                <a:solidFill>
                  <a:srgbClr val="111111"/>
                </a:solidFill>
                <a:latin typeface="Arial"/>
                <a:ea typeface="Arial"/>
                <a:cs typeface="Arial"/>
              </a:defRPr>
            </a:pPr>
            <a:r>
              <a:rPr sz="2175" b="0">
                <a:solidFill>
                  <a:srgbClr val="111111"/>
                </a:solidFill>
                <a:latin typeface="Arial"/>
                <a:ea typeface="Arial"/>
                <a:cs typeface="Arial"/>
              </a:rPr>
              <a:t>Problem: several components can show symptoms during one incident.</a:t>
            </a:r>
          </a:p>
          <a:p xmlns:a="http://schemas.openxmlformats.org/drawingml/2006/main">
            <a:pPr marL="241300" indent="-127000">
              <a:spcAft>
                <a:spcPts val="1600"/>
              </a:spcAft>
              <a:buChar char="•"/>
              <a:defRPr sz="2175" b="0">
                <a:solidFill>
                  <a:srgbClr val="111111"/>
                </a:solidFill>
                <a:latin typeface="Arial"/>
                <a:ea typeface="Arial"/>
                <a:cs typeface="Arial"/>
              </a:defRPr>
            </a:pPr>
            <a:r>
              <a:rPr sz="2175" b="0">
                <a:solidFill>
                  <a:srgbClr val="111111"/>
                </a:solidFill>
                <a:latin typeface="Arial"/>
                <a:ea typeface="Arial"/>
                <a:cs typeface="Arial"/>
              </a:rPr>
              <a:t>Input: a time window, metrics, logs and observed calls.</a:t>
            </a:r>
          </a:p>
          <a:p xmlns:a="http://schemas.openxmlformats.org/drawingml/2006/main">
            <a:pPr marL="241300" indent="-127000">
              <a:spcAft>
                <a:spcPts val="1600"/>
              </a:spcAft>
              <a:buChar char="•"/>
              <a:defRPr sz="2175" b="0">
                <a:solidFill>
                  <a:srgbClr val="111111"/>
                </a:solidFill>
                <a:latin typeface="Arial"/>
                <a:ea typeface="Arial"/>
                <a:cs typeface="Arial"/>
              </a:defRPr>
            </a:pPr>
            <a:r>
              <a:rPr sz="2175" b="0">
                <a:solidFill>
                  <a:srgbClr val="111111"/>
                </a:solidFill>
                <a:latin typeface="Arial"/>
                <a:ea typeface="Arial"/>
                <a:cs typeface="Arial"/>
              </a:rPr>
              <a:t>First P1: load one case and run an existing analysis method.</a:t>
            </a:r>
          </a:p>
          <a:p xmlns:a="http://schemas.openxmlformats.org/drawingml/2006/main">
            <a:pPr marL="241300" indent="-127000">
              <a:spcAft>
                <a:spcPts val="1600"/>
              </a:spcAft>
              <a:buChar char="•"/>
              <a:defRPr sz="2175" b="0">
                <a:solidFill>
                  <a:srgbClr val="111111"/>
                </a:solidFill>
                <a:latin typeface="Arial"/>
                <a:ea typeface="Arial"/>
                <a:cs typeface="Arial"/>
              </a:defRPr>
            </a:pPr>
            <a:r>
              <a:rPr sz="2175" b="0">
                <a:solidFill>
                  <a:srgbClr val="111111"/>
                </a:solidFill>
                <a:latin typeface="Arial"/>
                <a:ea typeface="Arial"/>
                <a:cs typeface="Arial"/>
              </a:rPr>
              <a:t>Output: candidate component, possible cause, sources and uncertainty.</a:t>
            </a:r>
          </a:p>
        </p:txBody>
      </p:sp>
      <p:sp>
        <p:nvSpPr>
          <p:cNvPr id="4" name="source">
            <a:extLst xmlns:a="http://schemas.openxmlformats.org/drawingml/2006/main">
              <a:ext uri="{FF2B5EF4-FFF2-40B4-BE49-F238E27FC236}">
                <a16:creationId xmlns:a16="http://schemas.microsoft.com/office/drawing/2014/main" id="{C5E451D5-06EB-4E03-9987-FEA484442DCB}"/>
              </a:ext>
            </a:extLst>
          </p:cNvPr>
          <p:cNvSpPr>
            <a:spLocks xmlns:a="http://schemas.openxmlformats.org/drawingml/2006/main" noGrp="1"/>
          </p:cNvSpPr>
          <p:nvPr/>
        </p:nvSpPr>
        <p:spPr>
          <a:xfrm xmlns:a="http://schemas.openxmlformats.org/drawingml/2006/main">
            <a:off x="666750" y="599122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55555"/>
                </a:solidFill>
                <a:latin typeface="Arial"/>
                <a:ea typeface="Arial"/>
                <a:cs typeface="Arial"/>
              </a:defRPr>
            </a:pPr>
            <a:r>
              <a:rPr sz="1350" b="0">
                <a:solidFill>
                  <a:srgbClr val="555555"/>
                </a:solidFill>
                <a:latin typeface="Arial"/>
                <a:ea typeface="Arial"/>
                <a:cs typeface="Arial"/>
              </a:rPr>
              <a:t>Scope: one Bank system, offline records and read-only investigation.</a:t>
            </a:r>
          </a:p>
        </p:txBody>
      </p:sp>
    </p:spTree>
    <p:extLst>
      <p:ext uri="{BB962C8B-B14F-4D97-AF65-F5344CB8AC3E}">
        <p14:creationId xmlns:p14="http://schemas.microsoft.com/office/powerpoint/2010/main" val="145846679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5C58C60-516A-4D5F-A975-3E67ADDCD11C}"/>
              </a:ext>
            </a:extLst>
          </p:cNvPr>
          <p:cNvSpPr>
            <a:spLocks xmlns:a="http://schemas.openxmlformats.org/drawingml/2006/main" noGrp="1"/>
          </p:cNvSpPr>
          <p:nvPr/>
        </p:nvSpPr>
        <p:spPr>
          <a:xfrm xmlns:a="http://schemas.openxmlformats.org/drawingml/2006/main">
            <a:off x="647700" y="42862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11111"/>
                </a:solidFill>
                <a:latin typeface="Arial"/>
                <a:ea typeface="Arial"/>
                <a:cs typeface="Arial"/>
              </a:defRPr>
            </a:pPr>
            <a:r>
              <a:rPr sz="3225" b="1">
                <a:solidFill>
                  <a:srgbClr val="111111"/>
                </a:solidFill>
                <a:latin typeface="Arial"/>
                <a:ea typeface="Arial"/>
                <a:cs typeface="Arial"/>
              </a:rPr>
              <a:t>Human design and AI implementation</a:t>
            </a:r>
          </a:p>
        </p:txBody>
      </p:sp>
      <p:sp>
        <p:nvSpPr>
          <p:cNvPr id="2" name="page">
            <a:extLst xmlns:a="http://schemas.openxmlformats.org/drawingml/2006/main">
              <a:ext uri="{FF2B5EF4-FFF2-40B4-BE49-F238E27FC236}">
                <a16:creationId xmlns:a16="http://schemas.microsoft.com/office/drawing/2014/main" id="{1B7A0659-E104-474E-A7E7-48EFD4055E3D}"/>
              </a:ext>
            </a:extLst>
          </p:cNvPr>
          <p:cNvSpPr>
            <a:spLocks xmlns:a="http://schemas.openxmlformats.org/drawingml/2006/main" noGrp="1"/>
          </p:cNvSpPr>
          <p:nvPr/>
        </p:nvSpPr>
        <p:spPr>
          <a:xfrm xmlns:a="http://schemas.openxmlformats.org/drawingml/2006/main">
            <a:off x="11049000" y="64198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666666"/>
                </a:solidFill>
                <a:latin typeface="Arial"/>
                <a:ea typeface="Arial"/>
                <a:cs typeface="Arial"/>
              </a:defRPr>
            </a:pPr>
            <a:r>
              <a:rPr sz="1350" b="0">
                <a:solidFill>
                  <a:srgbClr val="666666"/>
                </a:solidFill>
                <a:latin typeface="Arial"/>
                <a:ea typeface="Arial"/>
                <a:cs typeface="Arial"/>
              </a:rPr>
              <a:t>03</a:t>
            </a:r>
          </a:p>
        </p:txBody>
      </p:sp>
      <p:graphicFrame>
        <p:nvGraphicFramePr>
          <p:cNvPr id="7" name=""/>
          <p:cNvGraphicFramePr/>
          <p:nvPr/>
        </p:nvGraphicFramePr>
        <p:xfrm>
          <a:off xmlns:a="http://schemas.openxmlformats.org/drawingml/2006/main" x="666750" y="1695450"/>
          <a:ext xmlns:a="http://schemas.openxmlformats.org/drawingml/2006/main" cx="10858500" cy="3352800"/>
        </p:xfrm>
        <a:graphic xmlns:a="http://schemas.openxmlformats.org/drawingml/2006/main">
          <a:graphicData uri="http://schemas.openxmlformats.org/drawingml/2006/table">
            <a:tbl>
              <a:tblPr firstRow="1" bandRow="0"/>
              <a:tblGrid>
                <a:gridCol w="5191125"/>
                <a:gridCol w="5667375"/>
              </a:tblGrid>
              <a:tr h="670560">
                <a:tc>
                  <a:txBody>
                    <a:bodyPr lIns="114300" tIns="95250" rIns="95250" bIns="76200">
                      <a:noAutofit/>
                    </a:bodyPr>
                    <a:lstStyle/>
                    <a:p>
                      <a:r>
                        <a:rPr sz="1875" b="1">
                          <a:solidFill>
                            <a:srgbClr val="111111"/>
                          </a:solidFill>
                          <a:latin typeface="Arial"/>
                          <a:ea typeface="Arial"/>
                          <a:cs typeface="Arial"/>
                        </a:rPr>
                        <a:t>Human decisions</a:t>
                      </a:r>
                    </a:p>
                  </a:txBody>
                  <a:tcPr marL="91440" marR="91440" marT="45720" marB="45720">
                    <a:solidFill>
                      <a:srgbClr val="EEEEEE"/>
                    </a:solidFill>
                  </a:tcPr>
                </a:tc>
                <a:tc>
                  <a:txBody>
                    <a:bodyPr lIns="114300" tIns="95250" rIns="95250" bIns="76200">
                      <a:noAutofit/>
                    </a:bodyPr>
                    <a:lstStyle/>
                    <a:p>
                      <a:r>
                        <a:rPr sz="1875" b="1">
                          <a:solidFill>
                            <a:srgbClr val="111111"/>
                          </a:solidFill>
                          <a:latin typeface="Arial"/>
                          <a:ea typeface="Arial"/>
                          <a:cs typeface="Arial"/>
                        </a:rPr>
                        <a:t>Codex implementation</a:t>
                      </a:r>
                    </a:p>
                  </a:txBody>
                  <a:tcPr marL="91440" marR="91440" marT="45720" marB="45720">
                    <a:solidFill>
                      <a:srgbClr val="EEEEEE"/>
                    </a:solidFill>
                  </a:tcPr>
                </a:tc>
              </a:tr>
              <a:tr h="670560">
                <a:tc>
                  <a:txBody>
                    <a:bodyPr lIns="114300" tIns="95250" rIns="95250" bIns="76200">
                      <a:noAutofit/>
                    </a:bodyPr>
                    <a:lstStyle/>
                    <a:p>
                      <a:r>
                        <a:rPr sz="1875" b="0">
                          <a:solidFill>
                            <a:srgbClr val="111111"/>
                          </a:solidFill>
                          <a:latin typeface="Arial"/>
                          <a:ea typeface="Arial"/>
                          <a:cs typeface="Arial"/>
                        </a:rPr>
                        <a:t>One system and an existing method</a:t>
                      </a:r>
                    </a:p>
                  </a:txBody>
                  <a:tcPr marL="91440" marR="91440" marT="45720" marB="45720">
                    <a:solidFill>
                      <a:srgbClr val="FFFFFF"/>
                    </a:solidFill>
                  </a:tcPr>
                </a:tc>
                <a:tc>
                  <a:txBody>
                    <a:bodyPr lIns="114300" tIns="95250" rIns="95250" bIns="76200">
                      <a:noAutofit/>
                    </a:bodyPr>
                    <a:lstStyle/>
                    <a:p>
                      <a:r>
                        <a:rPr sz="1875" b="0">
                          <a:solidFill>
                            <a:srgbClr val="111111"/>
                          </a:solidFill>
                          <a:latin typeface="Arial"/>
                          <a:ea typeface="Arial"/>
                          <a:cs typeface="Arial"/>
                        </a:rPr>
                        <a:t>Pinned EviRCA and actual Bank data</a:t>
                      </a:r>
                    </a:p>
                  </a:txBody>
                  <a:tcPr marL="91440" marR="91440" marT="45720" marB="45720">
                    <a:solidFill>
                      <a:srgbClr val="FFFFFF"/>
                    </a:solidFill>
                  </a:tcPr>
                </a:tc>
              </a:tr>
              <a:tr h="670560">
                <a:tc>
                  <a:txBody>
                    <a:bodyPr lIns="114300" tIns="95250" rIns="95250" bIns="76200">
                      <a:noAutofit/>
                    </a:bodyPr>
                    <a:lstStyle/>
                    <a:p>
                      <a:r>
                        <a:rPr sz="1875" b="0">
                          <a:solidFill>
                            <a:srgbClr val="111111"/>
                          </a:solidFill>
                          <a:latin typeface="Arial"/>
                          <a:ea typeface="Arial"/>
                          <a:cs typeface="Arial"/>
                        </a:rPr>
                        <a:t>Evidence inspection and judgment</a:t>
                      </a:r>
                    </a:p>
                  </a:txBody>
                  <a:tcPr marL="91440" marR="91440" marT="45720" marB="45720">
                    <a:solidFill>
                      <a:srgbClr val="FFFFFF"/>
                    </a:solidFill>
                  </a:tcPr>
                </a:tc>
                <a:tc>
                  <a:txBody>
                    <a:bodyPr lIns="114300" tIns="95250" rIns="95250" bIns="76200">
                      <a:noAutofit/>
                    </a:bodyPr>
                    <a:lstStyle/>
                    <a:p>
                      <a:r>
                        <a:rPr sz="1875" b="0">
                          <a:solidFill>
                            <a:srgbClr val="111111"/>
                          </a:solidFill>
                          <a:latin typeface="Arial"/>
                          <a:ea typeface="Arial"/>
                          <a:cs typeface="Arial"/>
                        </a:rPr>
                        <a:t>Source indexing and run-bound feedback</a:t>
                      </a:r>
                    </a:p>
                  </a:txBody>
                  <a:tcPr marL="91440" marR="91440" marT="45720" marB="45720">
                    <a:solidFill>
                      <a:srgbClr val="FFFFFF"/>
                    </a:solidFill>
                  </a:tcPr>
                </a:tc>
              </a:tr>
              <a:tr h="670560">
                <a:tc>
                  <a:txBody>
                    <a:bodyPr lIns="114300" tIns="95250" rIns="95250" bIns="76200">
                      <a:noAutofit/>
                    </a:bodyPr>
                    <a:lstStyle/>
                    <a:p>
                      <a:r>
                        <a:rPr sz="1875" b="0">
                          <a:solidFill>
                            <a:srgbClr val="111111"/>
                          </a:solidFill>
                          <a:latin typeface="Arial"/>
                          <a:ea typeface="Arial"/>
                          <a:cs typeface="Arial"/>
                        </a:rPr>
                        <a:t>Free Gemini, local demonstration</a:t>
                      </a:r>
                    </a:p>
                  </a:txBody>
                  <a:tcPr marL="91440" marR="91440" marT="45720" marB="45720">
                    <a:solidFill>
                      <a:srgbClr val="FFFFFF"/>
                    </a:solidFill>
                  </a:tcPr>
                </a:tc>
                <a:tc>
                  <a:txBody>
                    <a:bodyPr lIns="114300" tIns="95250" rIns="95250" bIns="76200">
                      <a:noAutofit/>
                    </a:bodyPr>
                    <a:lstStyle/>
                    <a:p>
                      <a:r>
                        <a:rPr sz="1875" b="0">
                          <a:solidFill>
                            <a:srgbClr val="111111"/>
                          </a:solidFill>
                          <a:latin typeface="Arial"/>
                          <a:ea typeface="Arial"/>
                          <a:cs typeface="Arial"/>
                        </a:rPr>
                        <a:t>Bounded API calls and Streamlit</a:t>
                      </a:r>
                    </a:p>
                  </a:txBody>
                  <a:tcPr marL="91440" marR="91440" marT="45720" marB="45720">
                    <a:solidFill>
                      <a:srgbClr val="FFFFFF"/>
                    </a:solidFill>
                  </a:tcPr>
                </a:tc>
              </a:tr>
              <a:tr h="670560">
                <a:tc>
                  <a:txBody>
                    <a:bodyPr lIns="114300" tIns="95250" rIns="95250" bIns="76200">
                      <a:noAutofit/>
                    </a:bodyPr>
                    <a:lstStyle/>
                    <a:p>
                      <a:r>
                        <a:rPr sz="1875" b="0">
                          <a:solidFill>
                            <a:srgbClr val="111111"/>
                          </a:solidFill>
                          <a:latin typeface="Arial"/>
                          <a:ea typeface="Arial"/>
                          <a:cs typeface="Arial"/>
                        </a:rPr>
                        <a:t>Chinese and English interface</a:t>
                      </a:r>
                    </a:p>
                  </a:txBody>
                  <a:tcPr marL="91440" marR="91440" marT="45720" marB="45720">
                    <a:solidFill>
                      <a:srgbClr val="FFFFFF"/>
                    </a:solidFill>
                  </a:tcPr>
                </a:tc>
                <a:tc>
                  <a:txBody>
                    <a:bodyPr lIns="114300" tIns="95250" rIns="95250" bIns="76200">
                      <a:noAutofit/>
                    </a:bodyPr>
                    <a:lstStyle/>
                    <a:p>
                      <a:r>
                        <a:rPr sz="1875" b="0">
                          <a:solidFill>
                            <a:srgbClr val="111111"/>
                          </a:solidFill>
                          <a:latin typeface="Arial"/>
                          <a:ea typeface="Arial"/>
                          <a:cs typeface="Arial"/>
                        </a:rPr>
                        <a:t>Static translations and state preservation</a:t>
                      </a:r>
                    </a:p>
                  </a:txBody>
                  <a:tcPr marL="91440" marR="91440" marT="45720" marB="45720">
                    <a:solidFill>
                      <a:srgbClr val="FFFFFF"/>
                    </a:solidFill>
                  </a:tcPr>
                </a:tc>
              </a:tr>
            </a:tbl>
          </a:graphicData>
        </a:graphic>
      </p:graphicFrame>
      <p:sp>
        <p:nvSpPr>
          <p:cNvPr id="4" name="source">
            <a:extLst xmlns:a="http://schemas.openxmlformats.org/drawingml/2006/main">
              <a:ext uri="{FF2B5EF4-FFF2-40B4-BE49-F238E27FC236}">
                <a16:creationId xmlns:a16="http://schemas.microsoft.com/office/drawing/2014/main" id="{1E3B5871-3E50-4565-8397-688B548FEE45}"/>
              </a:ext>
            </a:extLst>
          </p:cNvPr>
          <p:cNvSpPr>
            <a:spLocks xmlns:a="http://schemas.openxmlformats.org/drawingml/2006/main" noGrp="1"/>
          </p:cNvSpPr>
          <p:nvPr/>
        </p:nvSpPr>
        <p:spPr>
          <a:xfrm xmlns:a="http://schemas.openxmlformats.org/drawingml/2006/main">
            <a:off x="666750" y="599122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55555"/>
                </a:solidFill>
                <a:latin typeface="Arial"/>
                <a:ea typeface="Arial"/>
                <a:cs typeface="Arial"/>
              </a:defRPr>
            </a:pPr>
            <a:r>
              <a:rPr sz="1350" b="0">
                <a:solidFill>
                  <a:srgbClr val="555555"/>
                </a:solidFill>
                <a:latin typeface="Arial"/>
                <a:ea typeface="Arial"/>
                <a:cs typeface="Arial"/>
              </a:rPr>
              <a:t>Final submission and acceptance of a diagnosis remain human decisions.</a:t>
            </a:r>
          </a:p>
        </p:txBody>
      </p:sp>
    </p:spTree>
    <p:extLst>
      <p:ext uri="{BB962C8B-B14F-4D97-AF65-F5344CB8AC3E}">
        <p14:creationId xmlns:p14="http://schemas.microsoft.com/office/powerpoint/2010/main" val="38607000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A382EF1-6B44-4055-896F-277D76C6F44C}"/>
              </a:ext>
            </a:extLst>
          </p:cNvPr>
          <p:cNvSpPr>
            <a:spLocks xmlns:a="http://schemas.openxmlformats.org/drawingml/2006/main" noGrp="1"/>
          </p:cNvSpPr>
          <p:nvPr/>
        </p:nvSpPr>
        <p:spPr>
          <a:xfrm xmlns:a="http://schemas.openxmlformats.org/drawingml/2006/main">
            <a:off x="647700" y="42862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11111"/>
                </a:solidFill>
                <a:latin typeface="Arial"/>
                <a:ea typeface="Arial"/>
                <a:cs typeface="Arial"/>
              </a:defRPr>
            </a:pPr>
            <a:r>
              <a:rPr sz="3225" b="1">
                <a:solidFill>
                  <a:srgbClr val="111111"/>
                </a:solidFill>
                <a:latin typeface="Arial"/>
                <a:ea typeface="Arial"/>
                <a:cs typeface="Arial"/>
              </a:rPr>
              <a:t>Implemented analysis workflow</a:t>
            </a:r>
          </a:p>
        </p:txBody>
      </p:sp>
      <p:sp>
        <p:nvSpPr>
          <p:cNvPr id="2" name="page">
            <a:extLst xmlns:a="http://schemas.openxmlformats.org/drawingml/2006/main">
              <a:ext uri="{FF2B5EF4-FFF2-40B4-BE49-F238E27FC236}">
                <a16:creationId xmlns:a16="http://schemas.microsoft.com/office/drawing/2014/main" id="{426A975F-60EA-4ACC-9052-14450A4C74C9}"/>
              </a:ext>
            </a:extLst>
          </p:cNvPr>
          <p:cNvSpPr>
            <a:spLocks xmlns:a="http://schemas.openxmlformats.org/drawingml/2006/main" noGrp="1"/>
          </p:cNvSpPr>
          <p:nvPr/>
        </p:nvSpPr>
        <p:spPr>
          <a:xfrm xmlns:a="http://schemas.openxmlformats.org/drawingml/2006/main">
            <a:off x="11049000" y="64198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666666"/>
                </a:solidFill>
                <a:latin typeface="Arial"/>
                <a:ea typeface="Arial"/>
                <a:cs typeface="Arial"/>
              </a:defRPr>
            </a:pPr>
            <a:r>
              <a:rPr sz="1350" b="0">
                <a:solidFill>
                  <a:srgbClr val="666666"/>
                </a:solidFill>
                <a:latin typeface="Arial"/>
                <a:ea typeface="Arial"/>
                <a:cs typeface="Arial"/>
              </a:rPr>
              <a:t>04</a:t>
            </a:r>
          </a:p>
        </p:txBody>
      </p:sp>
      <p:graphicFrame>
        <p:nvGraphicFramePr>
          <p:cNvPr id="7" name=""/>
          <p:cNvGraphicFramePr/>
          <p:nvPr/>
        </p:nvGraphicFramePr>
        <p:xfrm>
          <a:off xmlns:a="http://schemas.openxmlformats.org/drawingml/2006/main" x="666750" y="1695450"/>
          <a:ext xmlns:a="http://schemas.openxmlformats.org/drawingml/2006/main" cx="10858500" cy="3724275"/>
        </p:xfrm>
        <a:graphic xmlns:a="http://schemas.openxmlformats.org/drawingml/2006/main">
          <a:graphicData uri="http://schemas.openxmlformats.org/drawingml/2006/table">
            <a:tbl>
              <a:tblPr firstRow="1" bandRow="0"/>
              <a:tblGrid>
                <a:gridCol w="2762250"/>
                <a:gridCol w="8096250"/>
              </a:tblGrid>
              <a:tr h="620713">
                <a:tc>
                  <a:txBody>
                    <a:bodyPr lIns="114300" tIns="95250" rIns="95250" bIns="76200">
                      <a:noAutofit/>
                    </a:bodyPr>
                    <a:lstStyle/>
                    <a:p>
                      <a:r>
                        <a:rPr sz="1875" b="1">
                          <a:solidFill>
                            <a:srgbClr val="111111"/>
                          </a:solidFill>
                          <a:latin typeface="Arial"/>
                          <a:ea typeface="Arial"/>
                          <a:cs typeface="Arial"/>
                        </a:rPr>
                        <a:t>Stage</a:t>
                      </a:r>
                    </a:p>
                  </a:txBody>
                  <a:tcPr marL="91440" marR="91440" marT="45720" marB="45720">
                    <a:solidFill>
                      <a:srgbClr val="EEEEEE"/>
                    </a:solidFill>
                  </a:tcPr>
                </a:tc>
                <a:tc>
                  <a:txBody>
                    <a:bodyPr lIns="114300" tIns="95250" rIns="95250" bIns="76200">
                      <a:noAutofit/>
                    </a:bodyPr>
                    <a:lstStyle/>
                    <a:p>
                      <a:r>
                        <a:rPr sz="1875" b="1">
                          <a:solidFill>
                            <a:srgbClr val="111111"/>
                          </a:solidFill>
                          <a:latin typeface="Arial"/>
                          <a:ea typeface="Arial"/>
                          <a:cs typeface="Arial"/>
                        </a:rPr>
                        <a:t>Responsibility</a:t>
                      </a:r>
                    </a:p>
                  </a:txBody>
                  <a:tcPr marL="91440" marR="91440" marT="45720" marB="45720">
                    <a:solidFill>
                      <a:srgbClr val="EEEEEE"/>
                    </a:solidFill>
                  </a:tcPr>
                </a:tc>
              </a:tr>
              <a:tr h="620713">
                <a:tc>
                  <a:txBody>
                    <a:bodyPr lIns="114300" tIns="95250" rIns="95250" bIns="76200">
                      <a:noAutofit/>
                    </a:bodyPr>
                    <a:lstStyle/>
                    <a:p>
                      <a:r>
                        <a:rPr sz="1875" b="0">
                          <a:solidFill>
                            <a:srgbClr val="111111"/>
                          </a:solidFill>
                          <a:latin typeface="Arial"/>
                          <a:ea typeface="Arial"/>
                          <a:cs typeface="Arial"/>
                        </a:rPr>
                        <a:t>1. Load and validate</a:t>
                      </a:r>
                    </a:p>
                  </a:txBody>
                  <a:tcPr marL="91440" marR="91440" marT="45720" marB="45720">
                    <a:solidFill>
                      <a:srgbClr val="FFFFFF"/>
                    </a:solidFill>
                  </a:tcPr>
                </a:tc>
                <a:tc>
                  <a:txBody>
                    <a:bodyPr lIns="114300" tIns="95250" rIns="95250" bIns="76200">
                      <a:noAutofit/>
                    </a:bodyPr>
                    <a:lstStyle/>
                    <a:p>
                      <a:r>
                        <a:rPr sz="1875" b="0">
                          <a:solidFill>
                            <a:srgbClr val="111111"/>
                          </a:solidFill>
                          <a:latin typeface="Arial"/>
                          <a:ea typeface="Arial"/>
                          <a:cs typeface="Arial"/>
                        </a:rPr>
                        <a:t>Case window, units, required files and input version</a:t>
                      </a:r>
                    </a:p>
                  </a:txBody>
                  <a:tcPr marL="91440" marR="91440" marT="45720" marB="45720">
                    <a:solidFill>
                      <a:srgbClr val="FFFFFF"/>
                    </a:solidFill>
                  </a:tcPr>
                </a:tc>
              </a:tr>
              <a:tr h="620713">
                <a:tc>
                  <a:txBody>
                    <a:bodyPr lIns="114300" tIns="95250" rIns="95250" bIns="76200">
                      <a:noAutofit/>
                    </a:bodyPr>
                    <a:lstStyle/>
                    <a:p>
                      <a:r>
                        <a:rPr sz="1875" b="0">
                          <a:solidFill>
                            <a:srgbClr val="111111"/>
                          </a:solidFill>
                          <a:latin typeface="Arial"/>
                          <a:ea typeface="Arial"/>
                          <a:cs typeface="Arial"/>
                        </a:rPr>
                        <a:t>2. Extract observations</a:t>
                      </a:r>
                    </a:p>
                  </a:txBody>
                  <a:tcPr marL="91440" marR="91440" marT="45720" marB="45720">
                    <a:solidFill>
                      <a:srgbClr val="FFFFFF"/>
                    </a:solidFill>
                  </a:tcPr>
                </a:tc>
                <a:tc>
                  <a:txBody>
                    <a:bodyPr lIns="114300" tIns="95250" rIns="95250" bIns="76200">
                      <a:noAutofit/>
                    </a:bodyPr>
                    <a:lstStyle/>
                    <a:p>
                      <a:r>
                        <a:rPr sz="1875" b="0">
                          <a:solidFill>
                            <a:srgbClr val="111111"/>
                          </a:solidFill>
                          <a:latin typeface="Arial"/>
                          <a:ea typeface="Arial"/>
                          <a:cs typeface="Arial"/>
                        </a:rPr>
                        <a:t>EviRCA baselines, anomaly entries, logs and calls</a:t>
                      </a:r>
                    </a:p>
                  </a:txBody>
                  <a:tcPr marL="91440" marR="91440" marT="45720" marB="45720">
                    <a:solidFill>
                      <a:srgbClr val="FFFFFF"/>
                    </a:solidFill>
                  </a:tcPr>
                </a:tc>
              </a:tr>
              <a:tr h="620713">
                <a:tc>
                  <a:txBody>
                    <a:bodyPr lIns="114300" tIns="95250" rIns="95250" bIns="76200">
                      <a:noAutofit/>
                    </a:bodyPr>
                    <a:lstStyle/>
                    <a:p>
                      <a:r>
                        <a:rPr sz="1875" b="0">
                          <a:solidFill>
                            <a:srgbClr val="111111"/>
                          </a:solidFill>
                          <a:latin typeface="Arial"/>
                          <a:ea typeface="Arial"/>
                          <a:cs typeface="Arial"/>
                        </a:rPr>
                        <a:t>3. Investigate</a:t>
                      </a:r>
                    </a:p>
                  </a:txBody>
                  <a:tcPr marL="91440" marR="91440" marT="45720" marB="45720">
                    <a:solidFill>
                      <a:srgbClr val="FFFFFF"/>
                    </a:solidFill>
                  </a:tcPr>
                </a:tc>
                <a:tc>
                  <a:txBody>
                    <a:bodyPr lIns="114300" tIns="95250" rIns="95250" bIns="76200">
                      <a:noAutofit/>
                    </a:bodyPr>
                    <a:lstStyle/>
                    <a:p>
                      <a:r>
                        <a:rPr sz="1875" b="0">
                          <a:solidFill>
                            <a:srgbClr val="111111"/>
                          </a:solidFill>
                          <a:latin typeface="Arial"/>
                          <a:ea typeface="Arial"/>
                          <a:cs typeface="Arial"/>
                        </a:rPr>
                        <a:t>Gemini selects read-only EviRCA tools</a:t>
                      </a:r>
                    </a:p>
                  </a:txBody>
                  <a:tcPr marL="91440" marR="91440" marT="45720" marB="45720">
                    <a:solidFill>
                      <a:srgbClr val="FFFFFF"/>
                    </a:solidFill>
                  </a:tcPr>
                </a:tc>
              </a:tr>
              <a:tr h="620713">
                <a:tc>
                  <a:txBody>
                    <a:bodyPr lIns="114300" tIns="95250" rIns="95250" bIns="76200">
                      <a:noAutofit/>
                    </a:bodyPr>
                    <a:lstStyle/>
                    <a:p>
                      <a:r>
                        <a:rPr sz="1875" b="0">
                          <a:solidFill>
                            <a:srgbClr val="111111"/>
                          </a:solidFill>
                          <a:latin typeface="Arial"/>
                          <a:ea typeface="Arial"/>
                          <a:cs typeface="Arial"/>
                        </a:rPr>
                        <a:t>4. Validate output</a:t>
                      </a:r>
                    </a:p>
                  </a:txBody>
                  <a:tcPr marL="91440" marR="91440" marT="45720" marB="45720">
                    <a:solidFill>
                      <a:srgbClr val="FFFFFF"/>
                    </a:solidFill>
                  </a:tcPr>
                </a:tc>
                <a:tc>
                  <a:txBody>
                    <a:bodyPr lIns="114300" tIns="95250" rIns="95250" bIns="76200">
                      <a:noAutofit/>
                    </a:bodyPr>
                    <a:lstStyle/>
                    <a:p>
                      <a:r>
                        <a:rPr sz="1875" b="0">
                          <a:solidFill>
                            <a:srgbClr val="111111"/>
                          </a:solidFill>
                          <a:latin typeface="Arial"/>
                          <a:ea typeface="Arial"/>
                          <a:cs typeface="Arial"/>
                        </a:rPr>
                        <a:t>Candidate fields, evidence IDs and source linkage</a:t>
                      </a:r>
                    </a:p>
                  </a:txBody>
                  <a:tcPr marL="91440" marR="91440" marT="45720" marB="45720">
                    <a:solidFill>
                      <a:srgbClr val="FFFFFF"/>
                    </a:solidFill>
                  </a:tcPr>
                </a:tc>
              </a:tr>
              <a:tr h="620713">
                <a:tc>
                  <a:txBody>
                    <a:bodyPr lIns="114300" tIns="95250" rIns="95250" bIns="76200">
                      <a:noAutofit/>
                    </a:bodyPr>
                    <a:lstStyle/>
                    <a:p>
                      <a:r>
                        <a:rPr sz="1875" b="0">
                          <a:solidFill>
                            <a:srgbClr val="111111"/>
                          </a:solidFill>
                          <a:latin typeface="Arial"/>
                          <a:ea typeface="Arial"/>
                          <a:cs typeface="Arial"/>
                        </a:rPr>
                        <a:t>5. Review</a:t>
                      </a:r>
                    </a:p>
                  </a:txBody>
                  <a:tcPr marL="91440" marR="91440" marT="45720" marB="45720">
                    <a:solidFill>
                      <a:srgbClr val="FFFFFF"/>
                    </a:solidFill>
                  </a:tcPr>
                </a:tc>
                <a:tc>
                  <a:txBody>
                    <a:bodyPr lIns="114300" tIns="95250" rIns="95250" bIns="76200">
                      <a:noAutofit/>
                    </a:bodyPr>
                    <a:lstStyle/>
                    <a:p>
                      <a:r>
                        <a:rPr sz="1875" b="0">
                          <a:solidFill>
                            <a:srgbClr val="111111"/>
                          </a:solidFill>
                          <a:latin typeface="Arial"/>
                          <a:ea typeface="Arial"/>
                          <a:cs typeface="Arial"/>
                        </a:rPr>
                        <a:t>Inspect records and accept, reject or defer</a:t>
                      </a:r>
                    </a:p>
                  </a:txBody>
                  <a:tcPr marL="91440" marR="91440" marT="45720" marB="45720">
                    <a:solidFill>
                      <a:srgbClr val="FFFFFF"/>
                    </a:solidFill>
                  </a:tcPr>
                </a:tc>
              </a:tr>
            </a:tbl>
          </a:graphicData>
        </a:graphic>
      </p:graphicFrame>
      <p:sp>
        <p:nvSpPr>
          <p:cNvPr id="4" name="source">
            <a:extLst xmlns:a="http://schemas.openxmlformats.org/drawingml/2006/main">
              <a:ext uri="{FF2B5EF4-FFF2-40B4-BE49-F238E27FC236}">
                <a16:creationId xmlns:a16="http://schemas.microsoft.com/office/drawing/2014/main" id="{6913AD32-66CB-41E0-A8C1-8579F85B634C}"/>
              </a:ext>
            </a:extLst>
          </p:cNvPr>
          <p:cNvSpPr>
            <a:spLocks xmlns:a="http://schemas.openxmlformats.org/drawingml/2006/main" noGrp="1"/>
          </p:cNvSpPr>
          <p:nvPr/>
        </p:nvSpPr>
        <p:spPr>
          <a:xfrm xmlns:a="http://schemas.openxmlformats.org/drawingml/2006/main">
            <a:off x="666750" y="599122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55555"/>
                </a:solidFill>
                <a:latin typeface="Arial"/>
                <a:ea typeface="Arial"/>
                <a:cs typeface="Arial"/>
              </a:defRPr>
            </a:pPr>
            <a:r>
              <a:rPr sz="1350" b="0">
                <a:solidFill>
                  <a:srgbClr val="555555"/>
                </a:solidFill>
                <a:latin typeface="Arial"/>
                <a:ea typeface="Arial"/>
                <a:cs typeface="Arial"/>
              </a:rPr>
              <a:t>At most six API requests. A temporary 5xx retry stays within this budget.</a:t>
            </a:r>
          </a:p>
        </p:txBody>
      </p:sp>
    </p:spTree>
    <p:extLst>
      <p:ext uri="{BB962C8B-B14F-4D97-AF65-F5344CB8AC3E}">
        <p14:creationId xmlns:p14="http://schemas.microsoft.com/office/powerpoint/2010/main" val="130238440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732C0A1-6E48-4806-ABA6-49798B99D72E}"/>
              </a:ext>
            </a:extLst>
          </p:cNvPr>
          <p:cNvSpPr>
            <a:spLocks xmlns:a="http://schemas.openxmlformats.org/drawingml/2006/main" noGrp="1"/>
          </p:cNvSpPr>
          <p:nvPr/>
        </p:nvSpPr>
        <p:spPr>
          <a:xfrm xmlns:a="http://schemas.openxmlformats.org/drawingml/2006/main">
            <a:off x="647700" y="42862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11111"/>
                </a:solidFill>
                <a:latin typeface="Arial"/>
                <a:ea typeface="Arial"/>
                <a:cs typeface="Arial"/>
              </a:defRPr>
            </a:pPr>
            <a:r>
              <a:rPr sz="3225" b="1">
                <a:solidFill>
                  <a:srgbClr val="111111"/>
                </a:solidFill>
                <a:latin typeface="Arial"/>
                <a:ea typeface="Arial"/>
                <a:cs typeface="Arial"/>
              </a:rPr>
              <a:t>Data, method and model</a:t>
            </a:r>
          </a:p>
        </p:txBody>
      </p:sp>
      <p:sp>
        <p:nvSpPr>
          <p:cNvPr id="2" name="page">
            <a:extLst xmlns:a="http://schemas.openxmlformats.org/drawingml/2006/main">
              <a:ext uri="{FF2B5EF4-FFF2-40B4-BE49-F238E27FC236}">
                <a16:creationId xmlns:a16="http://schemas.microsoft.com/office/drawing/2014/main" id="{9B3A0014-03EB-47A0-B22E-80529D9CF2B2}"/>
              </a:ext>
            </a:extLst>
          </p:cNvPr>
          <p:cNvSpPr>
            <a:spLocks xmlns:a="http://schemas.openxmlformats.org/drawingml/2006/main" noGrp="1"/>
          </p:cNvSpPr>
          <p:nvPr/>
        </p:nvSpPr>
        <p:spPr>
          <a:xfrm xmlns:a="http://schemas.openxmlformats.org/drawingml/2006/main">
            <a:off x="11049000" y="64198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666666"/>
                </a:solidFill>
                <a:latin typeface="Arial"/>
                <a:ea typeface="Arial"/>
                <a:cs typeface="Arial"/>
              </a:defRPr>
            </a:pPr>
            <a:r>
              <a:rPr sz="1350" b="0">
                <a:solidFill>
                  <a:srgbClr val="666666"/>
                </a:solidFill>
                <a:latin typeface="Arial"/>
                <a:ea typeface="Arial"/>
                <a:cs typeface="Arial"/>
              </a:rPr>
              <a:t>05</a:t>
            </a:r>
          </a:p>
        </p:txBody>
      </p:sp>
      <p:sp>
        <p:nvSpPr>
          <p:cNvPr id="3" name="bullets">
            <a:extLst xmlns:a="http://schemas.openxmlformats.org/drawingml/2006/main">
              <a:ext uri="{FF2B5EF4-FFF2-40B4-BE49-F238E27FC236}">
                <a16:creationId xmlns:a16="http://schemas.microsoft.com/office/drawing/2014/main" id="{FA0B2F81-502B-483C-BCFE-FE469C5CC264}"/>
              </a:ext>
            </a:extLst>
          </p:cNvPr>
          <p:cNvSpPr>
            <a:spLocks xmlns:a="http://schemas.openxmlformats.org/drawingml/2006/main" noGrp="1"/>
          </p:cNvSpPr>
          <p:nvPr/>
        </p:nvSpPr>
        <p:spPr>
          <a:xfrm xmlns:a="http://schemas.openxmlformats.org/drawingml/2006/main">
            <a:off x="781050" y="1733550"/>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241300" indent="-127000">
              <a:spcAft>
                <a:spcPts val="1600"/>
              </a:spcAft>
              <a:buChar char="•"/>
              <a:defRPr sz="2100" b="0">
                <a:solidFill>
                  <a:srgbClr val="111111"/>
                </a:solidFill>
                <a:latin typeface="Arial"/>
                <a:ea typeface="Arial"/>
                <a:cs typeface="Arial"/>
              </a:defRPr>
            </a:pPr>
            <a:r>
              <a:rPr sz="2100" b="0">
                <a:solidFill>
                  <a:srgbClr val="111111"/>
                </a:solidFill>
                <a:latin typeface="Arial"/>
                <a:ea typeface="Arial"/>
                <a:cs typeface="Arial"/>
              </a:rPr>
              <a:t>Data: two Bank development cases from March 4 and March 6, 2021.</a:t>
            </a:r>
          </a:p>
          <a:p xmlns:a="http://schemas.openxmlformats.org/drawingml/2006/main">
            <a:pPr marL="241300" indent="-127000">
              <a:spcAft>
                <a:spcPts val="1600"/>
              </a:spcAft>
              <a:buChar char="•"/>
              <a:defRPr sz="2100" b="0">
                <a:solidFill>
                  <a:srgbClr val="111111"/>
                </a:solidFill>
                <a:latin typeface="Arial"/>
                <a:ea typeface="Arial"/>
                <a:cs typeface="Arial"/>
              </a:defRPr>
            </a:pPr>
            <a:r>
              <a:rPr sz="2100" b="0">
                <a:solidFill>
                  <a:srgbClr val="111111"/>
                </a:solidFill>
                <a:latin typeface="Arial"/>
                <a:ea typeface="Arial"/>
                <a:cs typeface="Arial"/>
              </a:rPr>
              <a:t>Full-day baselines are preserved; telemetry remains local.</a:t>
            </a:r>
          </a:p>
          <a:p xmlns:a="http://schemas.openxmlformats.org/drawingml/2006/main">
            <a:pPr marL="241300" indent="-127000">
              <a:spcAft>
                <a:spcPts val="1600"/>
              </a:spcAft>
              <a:buChar char="•"/>
              <a:defRPr sz="2100" b="0">
                <a:solidFill>
                  <a:srgbClr val="111111"/>
                </a:solidFill>
                <a:latin typeface="Arial"/>
                <a:ea typeface="Arial"/>
                <a:cs typeface="Arial"/>
              </a:defRPr>
            </a:pPr>
            <a:r>
              <a:rPr sz="2100" b="0">
                <a:solidFill>
                  <a:srgbClr val="111111"/>
                </a:solidFill>
                <a:latin typeface="Arial"/>
                <a:ea typeface="Arial"/>
                <a:cs typeface="Arial"/>
              </a:rPr>
              <a:t>EviRCA: unchanged adapter, evidence extraction and investigation tools.</a:t>
            </a:r>
          </a:p>
          <a:p xmlns:a="http://schemas.openxmlformats.org/drawingml/2006/main">
            <a:pPr marL="241300" indent="-127000">
              <a:spcAft>
                <a:spcPts val="1600"/>
              </a:spcAft>
              <a:buChar char="•"/>
              <a:defRPr sz="2100" b="0">
                <a:solidFill>
                  <a:srgbClr val="111111"/>
                </a:solidFill>
                <a:latin typeface="Arial"/>
                <a:ea typeface="Arial"/>
                <a:cs typeface="Arial"/>
              </a:defRPr>
            </a:pPr>
            <a:r>
              <a:rPr sz="2100" b="0">
                <a:solidFill>
                  <a:srgbClr val="111111"/>
                </a:solidFill>
                <a:latin typeface="Arial"/>
                <a:ea typeface="Arial"/>
                <a:cs typeface="Arial"/>
              </a:rPr>
              <a:t>Gemini 3.1 Flash-Lite: interpretation through constrained tool calls.</a:t>
            </a:r>
          </a:p>
          <a:p xmlns:a="http://schemas.openxmlformats.org/drawingml/2006/main">
            <a:pPr marL="241300" indent="-127000">
              <a:spcAft>
                <a:spcPts val="1600"/>
              </a:spcAft>
              <a:buChar char="•"/>
              <a:defRPr sz="2100" b="0">
                <a:solidFill>
                  <a:srgbClr val="111111"/>
                </a:solidFill>
                <a:latin typeface="Arial"/>
                <a:ea typeface="Arial"/>
                <a:cs typeface="Arial"/>
              </a:defRPr>
            </a:pPr>
            <a:r>
              <a:rPr sz="2100" b="0">
                <a:solidFill>
                  <a:srgbClr val="111111"/>
                </a:solidFill>
                <a:latin typeface="Arial"/>
                <a:ea typeface="Arial"/>
                <a:cs typeface="Arial"/>
              </a:rPr>
              <a:t>Engineering adaptation with explicit uncertainty and source validation.</a:t>
            </a:r>
          </a:p>
        </p:txBody>
      </p:sp>
      <p:sp>
        <p:nvSpPr>
          <p:cNvPr id="4" name="source">
            <a:extLst xmlns:a="http://schemas.openxmlformats.org/drawingml/2006/main">
              <a:ext uri="{FF2B5EF4-FFF2-40B4-BE49-F238E27FC236}">
                <a16:creationId xmlns:a16="http://schemas.microsoft.com/office/drawing/2014/main" id="{2867AAC9-62EF-4D85-9DB3-915585970B03}"/>
              </a:ext>
            </a:extLst>
          </p:cNvPr>
          <p:cNvSpPr>
            <a:spLocks xmlns:a="http://schemas.openxmlformats.org/drawingml/2006/main" noGrp="1"/>
          </p:cNvSpPr>
          <p:nvPr/>
        </p:nvSpPr>
        <p:spPr>
          <a:xfrm xmlns:a="http://schemas.openxmlformats.org/drawingml/2006/main">
            <a:off x="666750" y="599122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55555"/>
                </a:solidFill>
                <a:latin typeface="Arial"/>
                <a:ea typeface="Arial"/>
                <a:cs typeface="Arial"/>
              </a:defRPr>
            </a:pPr>
            <a:r>
              <a:rPr sz="1350" b="0">
                <a:solidFill>
                  <a:srgbClr val="555555"/>
                </a:solidFill>
                <a:latin typeface="Arial"/>
                <a:ea typeface="Arial"/>
                <a:cs typeface="Arial"/>
              </a:rPr>
              <a:t>github.com/microsoft/OpenRCA    github.com/yuhao541/EviRCA</a:t>
            </a:r>
          </a:p>
        </p:txBody>
      </p:sp>
    </p:spTree>
    <p:extLst>
      <p:ext uri="{BB962C8B-B14F-4D97-AF65-F5344CB8AC3E}">
        <p14:creationId xmlns:p14="http://schemas.microsoft.com/office/powerpoint/2010/main" val="205848710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60A65774-ACF2-4E0F-882E-2C7C2494B050}"/>
              </a:ext>
            </a:extLst>
          </p:cNvPr>
          <p:cNvSpPr>
            <a:spLocks xmlns:a="http://schemas.openxmlformats.org/drawingml/2006/main" noGrp="1"/>
          </p:cNvSpPr>
          <p:nvPr/>
        </p:nvSpPr>
        <p:spPr>
          <a:xfrm xmlns:a="http://schemas.openxmlformats.org/drawingml/2006/main">
            <a:off x="647700" y="42862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11111"/>
                </a:solidFill>
                <a:latin typeface="Arial"/>
                <a:ea typeface="Arial"/>
                <a:cs typeface="Arial"/>
              </a:defRPr>
            </a:pPr>
            <a:r>
              <a:rPr sz="3225" b="1">
                <a:solidFill>
                  <a:srgbClr val="111111"/>
                </a:solidFill>
                <a:latin typeface="Arial"/>
                <a:ea typeface="Arial"/>
                <a:cs typeface="Arial"/>
              </a:rPr>
              <a:t>Working local application</a:t>
            </a:r>
          </a:p>
        </p:txBody>
      </p:sp>
      <p:sp>
        <p:nvSpPr>
          <p:cNvPr id="2" name="page">
            <a:extLst xmlns:a="http://schemas.openxmlformats.org/drawingml/2006/main">
              <a:ext uri="{FF2B5EF4-FFF2-40B4-BE49-F238E27FC236}">
                <a16:creationId xmlns:a16="http://schemas.microsoft.com/office/drawing/2014/main" id="{95844B4F-3194-431E-B7CA-264D2A76E007}"/>
              </a:ext>
            </a:extLst>
          </p:cNvPr>
          <p:cNvSpPr>
            <a:spLocks xmlns:a="http://schemas.openxmlformats.org/drawingml/2006/main" noGrp="1"/>
          </p:cNvSpPr>
          <p:nvPr/>
        </p:nvSpPr>
        <p:spPr>
          <a:xfrm xmlns:a="http://schemas.openxmlformats.org/drawingml/2006/main">
            <a:off x="11049000" y="64198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666666"/>
                </a:solidFill>
                <a:latin typeface="Arial"/>
                <a:ea typeface="Arial"/>
                <a:cs typeface="Arial"/>
              </a:defRPr>
            </a:pPr>
            <a:r>
              <a:rPr sz="1350" b="0">
                <a:solidFill>
                  <a:srgbClr val="666666"/>
                </a:solidFill>
                <a:latin typeface="Arial"/>
                <a:ea typeface="Arial"/>
                <a:cs typeface="Arial"/>
              </a:rPr>
              <a:t>06</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c7fa9aea478f42d6"/>
          <a:stretch xmlns:a="http://schemas.openxmlformats.org/drawingml/2006/main"/>
        </p:blipFill>
        <p:spPr>
          <a:xfrm xmlns:a="http://schemas.openxmlformats.org/drawingml/2006/main">
            <a:off x="1403169" y="1400175"/>
            <a:ext cx="5956663" cy="4343400"/>
          </a:xfrm>
          <a:prstGeom xmlns:a="http://schemas.openxmlformats.org/drawingml/2006/main" prst="rect">
            <a:avLst/>
          </a:prstGeom>
        </p:spPr>
      </p:pic>
      <p:sp>
        <p:nvSpPr>
          <p:cNvPr id="4" name="bullets">
            <a:extLst xmlns:a="http://schemas.openxmlformats.org/drawingml/2006/main">
              <a:ext uri="{FF2B5EF4-FFF2-40B4-BE49-F238E27FC236}">
                <a16:creationId xmlns:a16="http://schemas.microsoft.com/office/drawing/2014/main" id="{58F93893-18F8-4B82-95F2-3015DFA3E5D6}"/>
              </a:ext>
            </a:extLst>
          </p:cNvPr>
          <p:cNvSpPr>
            <a:spLocks xmlns:a="http://schemas.openxmlformats.org/drawingml/2006/main" noGrp="1"/>
          </p:cNvSpPr>
          <p:nvPr/>
        </p:nvSpPr>
        <p:spPr>
          <a:xfrm xmlns:a="http://schemas.openxmlformats.org/drawingml/2006/main">
            <a:off x="8477250" y="1724025"/>
            <a:ext cx="30480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241300" indent="-127000">
              <a:spcAft>
                <a:spcPts val="2000"/>
              </a:spcAft>
              <a:buChar char="•"/>
              <a:defRPr sz="1875" b="0">
                <a:solidFill>
                  <a:srgbClr val="111111"/>
                </a:solidFill>
                <a:latin typeface="Arial"/>
                <a:ea typeface="Arial"/>
                <a:cs typeface="Arial"/>
              </a:defRPr>
            </a:pPr>
            <a:r>
              <a:rPr sz="1875" b="0">
                <a:solidFill>
                  <a:srgbClr val="111111"/>
                </a:solidFill>
                <a:latin typeface="Arial"/>
                <a:ea typeface="Arial"/>
                <a:cs typeface="Arial"/>
              </a:rPr>
              <a:t>Select a real case.</a:t>
            </a:r>
          </a:p>
          <a:p xmlns:a="http://schemas.openxmlformats.org/drawingml/2006/main">
            <a:pPr marL="241300" indent="-127000">
              <a:spcAft>
                <a:spcPts val="2000"/>
              </a:spcAft>
              <a:buChar char="•"/>
              <a:defRPr sz="1875" b="0">
                <a:solidFill>
                  <a:srgbClr val="111111"/>
                </a:solidFill>
                <a:latin typeface="Arial"/>
                <a:ea typeface="Arial"/>
                <a:cs typeface="Arial"/>
              </a:defRPr>
            </a:pPr>
            <a:r>
              <a:rPr sz="1875" b="0">
                <a:solidFill>
                  <a:srgbClr val="111111"/>
                </a:solidFill>
                <a:latin typeface="Arial"/>
                <a:ea typeface="Arial"/>
                <a:cs typeface="Arial"/>
              </a:rPr>
              <a:t>Run bounded analysis.</a:t>
            </a:r>
          </a:p>
          <a:p xmlns:a="http://schemas.openxmlformats.org/drawingml/2006/main">
            <a:pPr marL="241300" indent="-127000">
              <a:spcAft>
                <a:spcPts val="2000"/>
              </a:spcAft>
              <a:buChar char="•"/>
              <a:defRPr sz="1875" b="0">
                <a:solidFill>
                  <a:srgbClr val="111111"/>
                </a:solidFill>
                <a:latin typeface="Arial"/>
                <a:ea typeface="Arial"/>
                <a:cs typeface="Arial"/>
              </a:defRPr>
            </a:pPr>
            <a:r>
              <a:rPr sz="1875" b="0">
                <a:solidFill>
                  <a:srgbClr val="111111"/>
                </a:solidFill>
                <a:latin typeface="Arial"/>
                <a:ea typeface="Arial"/>
                <a:cs typeface="Arial"/>
              </a:rPr>
              <a:t>Inspect candidates and limits.</a:t>
            </a:r>
          </a:p>
          <a:p xmlns:a="http://schemas.openxmlformats.org/drawingml/2006/main">
            <a:pPr marL="241300" indent="-127000">
              <a:spcAft>
                <a:spcPts val="2000"/>
              </a:spcAft>
              <a:buChar char="•"/>
              <a:defRPr sz="1875" b="0">
                <a:solidFill>
                  <a:srgbClr val="111111"/>
                </a:solidFill>
                <a:latin typeface="Arial"/>
                <a:ea typeface="Arial"/>
                <a:cs typeface="Arial"/>
              </a:defRPr>
            </a:pPr>
            <a:r>
              <a:rPr sz="1875" b="0">
                <a:solidFill>
                  <a:srgbClr val="111111"/>
                </a:solidFill>
                <a:latin typeface="Arial"/>
                <a:ea typeface="Arial"/>
                <a:cs typeface="Arial"/>
              </a:rPr>
              <a:t>Switch UI language without a new request.</a:t>
            </a:r>
          </a:p>
        </p:txBody>
      </p:sp>
      <p:sp>
        <p:nvSpPr>
          <p:cNvPr id="5" name="source">
            <a:extLst xmlns:a="http://schemas.openxmlformats.org/drawingml/2006/main">
              <a:ext uri="{FF2B5EF4-FFF2-40B4-BE49-F238E27FC236}">
                <a16:creationId xmlns:a16="http://schemas.microsoft.com/office/drawing/2014/main" id="{33DC5573-19A3-4F4C-B691-2D7070682EE0}"/>
              </a:ext>
            </a:extLst>
          </p:cNvPr>
          <p:cNvSpPr>
            <a:spLocks xmlns:a="http://schemas.openxmlformats.org/drawingml/2006/main" noGrp="1"/>
          </p:cNvSpPr>
          <p:nvPr/>
        </p:nvSpPr>
        <p:spPr>
          <a:xfrm xmlns:a="http://schemas.openxmlformats.org/drawingml/2006/main">
            <a:off x="666750" y="599122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55555"/>
                </a:solidFill>
                <a:latin typeface="Arial"/>
                <a:ea typeface="Arial"/>
                <a:cs typeface="Arial"/>
              </a:defRPr>
            </a:pPr>
            <a:r>
              <a:rPr sz="1350" b="0">
                <a:solidFill>
                  <a:srgbClr val="555555"/>
                </a:solidFill>
                <a:latin typeface="Arial"/>
                <a:ea typeface="Arial"/>
                <a:cs typeface="Arial"/>
              </a:rPr>
              <a:t>Actual Streamlit screenshot. The local server binds to 127.0.0.1.</a:t>
            </a:r>
          </a:p>
        </p:txBody>
      </p:sp>
    </p:spTree>
    <p:extLst>
      <p:ext uri="{BB962C8B-B14F-4D97-AF65-F5344CB8AC3E}">
        <p14:creationId xmlns:p14="http://schemas.microsoft.com/office/powerpoint/2010/main" val="172553155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909D48D-D57F-4A6F-94D3-EE3CB487D00F}"/>
              </a:ext>
            </a:extLst>
          </p:cNvPr>
          <p:cNvSpPr>
            <a:spLocks xmlns:a="http://schemas.openxmlformats.org/drawingml/2006/main" noGrp="1"/>
          </p:cNvSpPr>
          <p:nvPr/>
        </p:nvSpPr>
        <p:spPr>
          <a:xfrm xmlns:a="http://schemas.openxmlformats.org/drawingml/2006/main">
            <a:off x="647700" y="42862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11111"/>
                </a:solidFill>
                <a:latin typeface="Arial"/>
                <a:ea typeface="Arial"/>
                <a:cs typeface="Arial"/>
              </a:defRPr>
            </a:pPr>
            <a:r>
              <a:rPr sz="3225" b="1">
                <a:solidFill>
                  <a:srgbClr val="111111"/>
                </a:solidFill>
                <a:latin typeface="Arial"/>
                <a:ea typeface="Arial"/>
                <a:cs typeface="Arial"/>
              </a:rPr>
              <a:t>A traceable development example</a:t>
            </a:r>
          </a:p>
        </p:txBody>
      </p:sp>
      <p:sp>
        <p:nvSpPr>
          <p:cNvPr id="2" name="page">
            <a:extLst xmlns:a="http://schemas.openxmlformats.org/drawingml/2006/main">
              <a:ext uri="{FF2B5EF4-FFF2-40B4-BE49-F238E27FC236}">
                <a16:creationId xmlns:a16="http://schemas.microsoft.com/office/drawing/2014/main" id="{C758A32E-0A79-4BDB-86E9-24AD5A3971B2}"/>
              </a:ext>
            </a:extLst>
          </p:cNvPr>
          <p:cNvSpPr>
            <a:spLocks xmlns:a="http://schemas.openxmlformats.org/drawingml/2006/main" noGrp="1"/>
          </p:cNvSpPr>
          <p:nvPr/>
        </p:nvSpPr>
        <p:spPr>
          <a:xfrm xmlns:a="http://schemas.openxmlformats.org/drawingml/2006/main">
            <a:off x="11049000" y="64198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666666"/>
                </a:solidFill>
                <a:latin typeface="Arial"/>
                <a:ea typeface="Arial"/>
                <a:cs typeface="Arial"/>
              </a:defRPr>
            </a:pPr>
            <a:r>
              <a:rPr sz="1350" b="0">
                <a:solidFill>
                  <a:srgbClr val="666666"/>
                </a:solidFill>
                <a:latin typeface="Arial"/>
                <a:ea typeface="Arial"/>
                <a:cs typeface="Arial"/>
              </a:rPr>
              <a:t>07</a:t>
            </a:r>
          </a:p>
        </p:txBody>
      </p:sp>
      <p:sp>
        <p:nvSpPr>
          <p:cNvPr id="3" name="bullets">
            <a:extLst xmlns:a="http://schemas.openxmlformats.org/drawingml/2006/main">
              <a:ext uri="{FF2B5EF4-FFF2-40B4-BE49-F238E27FC236}">
                <a16:creationId xmlns:a16="http://schemas.microsoft.com/office/drawing/2014/main" id="{4C761918-F9EC-4B68-BC42-FC7D0AA013EF}"/>
              </a:ext>
            </a:extLst>
          </p:cNvPr>
          <p:cNvSpPr>
            <a:spLocks xmlns:a="http://schemas.openxmlformats.org/drawingml/2006/main" noGrp="1"/>
          </p:cNvSpPr>
          <p:nvPr/>
        </p:nvSpPr>
        <p:spPr>
          <a:xfrm xmlns:a="http://schemas.openxmlformats.org/drawingml/2006/main">
            <a:off x="781050" y="1733550"/>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241300" indent="-127000">
              <a:spcAft>
                <a:spcPts val="1600"/>
              </a:spcAft>
              <a:buChar char="•"/>
              <a:defRPr sz="2100" b="0">
                <a:solidFill>
                  <a:srgbClr val="111111"/>
                </a:solidFill>
                <a:latin typeface="Arial"/>
                <a:ea typeface="Arial"/>
                <a:cs typeface="Arial"/>
              </a:defRPr>
            </a:pPr>
            <a:r>
              <a:rPr sz="2100" b="0">
                <a:solidFill>
                  <a:srgbClr val="111111"/>
                </a:solidFill>
                <a:latin typeface="Arial"/>
                <a:ea typeface="Arial"/>
                <a:cs typeface="Arial"/>
              </a:rPr>
              <a:t>Case: March 4, 18:00–18:30, Bank system (UTC+8).</a:t>
            </a:r>
          </a:p>
          <a:p xmlns:a="http://schemas.openxmlformats.org/drawingml/2006/main">
            <a:pPr marL="241300" indent="-127000">
              <a:spcAft>
                <a:spcPts val="1600"/>
              </a:spcAft>
              <a:buChar char="•"/>
              <a:defRPr sz="2100" b="0">
                <a:solidFill>
                  <a:srgbClr val="111111"/>
                </a:solidFill>
                <a:latin typeface="Arial"/>
                <a:ea typeface="Arial"/>
                <a:cs typeface="Arial"/>
              </a:defRPr>
            </a:pPr>
            <a:r>
              <a:rPr sz="2100" b="0">
                <a:solidFill>
                  <a:srgbClr val="111111"/>
                </a:solidFill>
                <a:latin typeface="Arial"/>
                <a:ea typeface="Arial"/>
                <a:cs typeface="Arial"/>
              </a:rPr>
              <a:t>Candidate: Redis02, high memory usage.</a:t>
            </a:r>
          </a:p>
          <a:p xmlns:a="http://schemas.openxmlformats.org/drawingml/2006/main">
            <a:pPr marL="241300" indent="-127000">
              <a:spcAft>
                <a:spcPts val="1600"/>
              </a:spcAft>
              <a:buChar char="•"/>
              <a:defRPr sz="2100" b="0">
                <a:solidFill>
                  <a:srgbClr val="111111"/>
                </a:solidFill>
                <a:latin typeface="Arial"/>
                <a:ea typeface="Arial"/>
                <a:cs typeface="Arial"/>
              </a:defRPr>
            </a:pPr>
            <a:r>
              <a:rPr sz="2100" b="0">
                <a:solidFill>
                  <a:srgbClr val="111111"/>
                </a:solidFill>
                <a:latin typeface="Arial"/>
                <a:ea typeface="Arial"/>
                <a:cs typeface="Arial"/>
              </a:rPr>
              <a:t>Observed peak: NoCacheMemPerc = 92.6839 in the raw metrics.</a:t>
            </a:r>
          </a:p>
          <a:p xmlns:a="http://schemas.openxmlformats.org/drawingml/2006/main">
            <a:pPr marL="241300" indent="-127000">
              <a:spcAft>
                <a:spcPts val="1600"/>
              </a:spcAft>
              <a:buChar char="•"/>
              <a:defRPr sz="2100" b="0">
                <a:solidFill>
                  <a:srgbClr val="111111"/>
                </a:solidFill>
                <a:latin typeface="Arial"/>
                <a:ea typeface="Arial"/>
                <a:cs typeface="Arial"/>
              </a:defRPr>
            </a:pPr>
            <a:r>
              <a:rPr sz="2100" b="0">
                <a:solidFill>
                  <a:srgbClr val="111111"/>
                </a:solidFill>
                <a:latin typeface="Arial"/>
                <a:ea typeface="Arial"/>
                <a:cs typeface="Arial"/>
              </a:rPr>
              <a:t>Source: metric_container.csv, CSV data record 956231.</a:t>
            </a:r>
          </a:p>
          <a:p xmlns:a="http://schemas.openxmlformats.org/drawingml/2006/main">
            <a:pPr marL="241300" indent="-127000">
              <a:spcAft>
                <a:spcPts val="1600"/>
              </a:spcAft>
              <a:buChar char="•"/>
              <a:defRPr sz="2100" b="0">
                <a:solidFill>
                  <a:srgbClr val="111111"/>
                </a:solidFill>
                <a:latin typeface="Arial"/>
                <a:ea typeface="Arial"/>
                <a:cs typeface="Arial"/>
              </a:defRPr>
            </a:pPr>
            <a:r>
              <a:rPr sz="2100" b="0">
                <a:solidFill>
                  <a:srgbClr val="111111"/>
                </a:solidFill>
                <a:latin typeface="Arial"/>
                <a:ea typeface="Arial"/>
                <a:cs typeface="Arial"/>
              </a:rPr>
              <a:t>Official component/reason score: 1.0. First run: 84.8 seconds.</a:t>
            </a:r>
          </a:p>
        </p:txBody>
      </p:sp>
      <p:sp>
        <p:nvSpPr>
          <p:cNvPr id="4" name="source">
            <a:extLst xmlns:a="http://schemas.openxmlformats.org/drawingml/2006/main">
              <a:ext uri="{FF2B5EF4-FFF2-40B4-BE49-F238E27FC236}">
                <a16:creationId xmlns:a16="http://schemas.microsoft.com/office/drawing/2014/main" id="{2351BB10-5EB1-4233-BEA0-D87B8280CF1E}"/>
              </a:ext>
            </a:extLst>
          </p:cNvPr>
          <p:cNvSpPr>
            <a:spLocks xmlns:a="http://schemas.openxmlformats.org/drawingml/2006/main" noGrp="1"/>
          </p:cNvSpPr>
          <p:nvPr/>
        </p:nvSpPr>
        <p:spPr>
          <a:xfrm xmlns:a="http://schemas.openxmlformats.org/drawingml/2006/main">
            <a:off x="666750" y="599122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55555"/>
                </a:solidFill>
                <a:latin typeface="Arial"/>
                <a:ea typeface="Arial"/>
                <a:cs typeface="Arial"/>
              </a:defRPr>
            </a:pPr>
            <a:r>
              <a:rPr sz="1350" b="0">
                <a:solidFill>
                  <a:srgbClr val="555555"/>
                </a:solidFill>
                <a:latin typeface="Arial"/>
                <a:ea typeface="Arial"/>
                <a:cs typeface="Arial"/>
              </a:rPr>
              <a:t>A correct answer on one development case does not establish production accuracy.</a:t>
            </a:r>
          </a:p>
        </p:txBody>
      </p:sp>
    </p:spTree>
    <p:extLst>
      <p:ext uri="{BB962C8B-B14F-4D97-AF65-F5344CB8AC3E}">
        <p14:creationId xmlns:p14="http://schemas.microsoft.com/office/powerpoint/2010/main" val="41968717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496D126F-2CF2-43E6-BD92-607B9024E392}"/>
              </a:ext>
            </a:extLst>
          </p:cNvPr>
          <p:cNvSpPr>
            <a:spLocks xmlns:a="http://schemas.openxmlformats.org/drawingml/2006/main" noGrp="1"/>
          </p:cNvSpPr>
          <p:nvPr/>
        </p:nvSpPr>
        <p:spPr>
          <a:xfrm xmlns:a="http://schemas.openxmlformats.org/drawingml/2006/main">
            <a:off x="647700" y="42862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11111"/>
                </a:solidFill>
                <a:latin typeface="Arial"/>
                <a:ea typeface="Arial"/>
                <a:cs typeface="Arial"/>
              </a:defRPr>
            </a:pPr>
            <a:r>
              <a:rPr sz="3225" b="1">
                <a:solidFill>
                  <a:srgbClr val="111111"/>
                </a:solidFill>
                <a:latin typeface="Arial"/>
                <a:ea typeface="Arial"/>
                <a:cs typeface="Arial"/>
              </a:rPr>
              <a:t>Human evidence review</a:t>
            </a:r>
          </a:p>
        </p:txBody>
      </p:sp>
      <p:sp>
        <p:nvSpPr>
          <p:cNvPr id="2" name="page">
            <a:extLst xmlns:a="http://schemas.openxmlformats.org/drawingml/2006/main">
              <a:ext uri="{FF2B5EF4-FFF2-40B4-BE49-F238E27FC236}">
                <a16:creationId xmlns:a16="http://schemas.microsoft.com/office/drawing/2014/main" id="{69D4F8DB-8552-48F7-A3DB-08C53F94F997}"/>
              </a:ext>
            </a:extLst>
          </p:cNvPr>
          <p:cNvSpPr>
            <a:spLocks xmlns:a="http://schemas.openxmlformats.org/drawingml/2006/main" noGrp="1"/>
          </p:cNvSpPr>
          <p:nvPr/>
        </p:nvSpPr>
        <p:spPr>
          <a:xfrm xmlns:a="http://schemas.openxmlformats.org/drawingml/2006/main">
            <a:off x="11049000" y="64198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666666"/>
                </a:solidFill>
                <a:latin typeface="Arial"/>
                <a:ea typeface="Arial"/>
                <a:cs typeface="Arial"/>
              </a:defRPr>
            </a:pPr>
            <a:r>
              <a:rPr sz="1350" b="0">
                <a:solidFill>
                  <a:srgbClr val="666666"/>
                </a:solidFill>
                <a:latin typeface="Arial"/>
                <a:ea typeface="Arial"/>
                <a:cs typeface="Arial"/>
              </a:rPr>
              <a:t>08</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5c084748e311425a"/>
          <a:stretch xmlns:a="http://schemas.openxmlformats.org/drawingml/2006/main"/>
        </p:blipFill>
        <p:spPr>
          <a:xfrm xmlns:a="http://schemas.openxmlformats.org/drawingml/2006/main">
            <a:off x="1323295" y="1419225"/>
            <a:ext cx="5878286" cy="4286250"/>
          </a:xfrm>
          <a:prstGeom xmlns:a="http://schemas.openxmlformats.org/drawingml/2006/main" prst="rect">
            <a:avLst/>
          </a:prstGeom>
        </p:spPr>
      </p:pic>
      <p:sp>
        <p:nvSpPr>
          <p:cNvPr id="4" name="bullets">
            <a:extLst xmlns:a="http://schemas.openxmlformats.org/drawingml/2006/main">
              <a:ext uri="{FF2B5EF4-FFF2-40B4-BE49-F238E27FC236}">
                <a16:creationId xmlns:a16="http://schemas.microsoft.com/office/drawing/2014/main" id="{8A9C1ECC-6DFE-4C2B-A11C-EBEDF36CDBB5}"/>
              </a:ext>
            </a:extLst>
          </p:cNvPr>
          <p:cNvSpPr>
            <a:spLocks xmlns:a="http://schemas.openxmlformats.org/drawingml/2006/main" noGrp="1"/>
          </p:cNvSpPr>
          <p:nvPr/>
        </p:nvSpPr>
        <p:spPr>
          <a:xfrm xmlns:a="http://schemas.openxmlformats.org/drawingml/2006/main">
            <a:off x="8258175" y="1695450"/>
            <a:ext cx="3286125"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241300" indent="-127000">
              <a:spcAft>
                <a:spcPts val="2000"/>
              </a:spcAft>
              <a:buChar char="•"/>
              <a:defRPr sz="1875" b="0">
                <a:solidFill>
                  <a:srgbClr val="111111"/>
                </a:solidFill>
                <a:latin typeface="Arial"/>
                <a:ea typeface="Arial"/>
                <a:cs typeface="Arial"/>
              </a:defRPr>
            </a:pPr>
            <a:r>
              <a:rPr sz="1875" b="0">
                <a:solidFill>
                  <a:srgbClr val="111111"/>
                </a:solidFill>
                <a:latin typeface="Arial"/>
                <a:ea typeface="Arial"/>
                <a:cs typeface="Arial"/>
              </a:rPr>
              <a:t>Open source records.</a:t>
            </a:r>
          </a:p>
          <a:p xmlns:a="http://schemas.openxmlformats.org/drawingml/2006/main">
            <a:pPr marL="241300" indent="-127000">
              <a:spcAft>
                <a:spcPts val="2000"/>
              </a:spcAft>
              <a:buChar char="•"/>
              <a:defRPr sz="1875" b="0">
                <a:solidFill>
                  <a:srgbClr val="111111"/>
                </a:solidFill>
                <a:latin typeface="Arial"/>
                <a:ea typeface="Arial"/>
                <a:cs typeface="Arial"/>
              </a:defRPr>
            </a:pPr>
            <a:r>
              <a:rPr sz="1875" b="0">
                <a:solidFill>
                  <a:srgbClr val="111111"/>
                </a:solidFill>
                <a:latin typeface="Arial"/>
                <a:ea typeface="Arial"/>
                <a:cs typeface="Arial"/>
              </a:rPr>
              <a:t>Accept, reject or mark unresolved.</a:t>
            </a:r>
          </a:p>
          <a:p xmlns:a="http://schemas.openxmlformats.org/drawingml/2006/main">
            <a:pPr marL="241300" indent="-127000">
              <a:spcAft>
                <a:spcPts val="2000"/>
              </a:spcAft>
              <a:buChar char="•"/>
              <a:defRPr sz="1875" b="0">
                <a:solidFill>
                  <a:srgbClr val="111111"/>
                </a:solidFill>
                <a:latin typeface="Arial"/>
                <a:ea typeface="Arial"/>
                <a:cs typeface="Arial"/>
              </a:defRPr>
            </a:pPr>
            <a:r>
              <a:rPr sz="1875" b="0">
                <a:solidFill>
                  <a:srgbClr val="111111"/>
                </a:solidFill>
                <a:latin typeface="Arial"/>
                <a:ea typeface="Arial"/>
                <a:cs typeface="Arial"/>
              </a:rPr>
              <a:t>Give a reason for the judgment.</a:t>
            </a:r>
          </a:p>
          <a:p xmlns:a="http://schemas.openxmlformats.org/drawingml/2006/main">
            <a:pPr marL="241300" indent="-127000">
              <a:spcAft>
                <a:spcPts val="2000"/>
              </a:spcAft>
              <a:buChar char="•"/>
              <a:defRPr sz="1875" b="0">
                <a:solidFill>
                  <a:srgbClr val="111111"/>
                </a:solidFill>
                <a:latin typeface="Arial"/>
                <a:ea typeface="Arial"/>
                <a:cs typeface="Arial"/>
              </a:defRPr>
            </a:pPr>
            <a:r>
              <a:rPr sz="1875" b="0">
                <a:solidFill>
                  <a:srgbClr val="111111"/>
                </a:solidFill>
                <a:latin typeface="Arial"/>
                <a:ea typeface="Arial"/>
                <a:cs typeface="Arial"/>
              </a:rPr>
              <a:t>Export the investigation and feedback.</a:t>
            </a:r>
          </a:p>
        </p:txBody>
      </p:sp>
      <p:sp>
        <p:nvSpPr>
          <p:cNvPr id="5" name="source">
            <a:extLst xmlns:a="http://schemas.openxmlformats.org/drawingml/2006/main">
              <a:ext uri="{FF2B5EF4-FFF2-40B4-BE49-F238E27FC236}">
                <a16:creationId xmlns:a16="http://schemas.microsoft.com/office/drawing/2014/main" id="{A884558C-D99F-44DD-A169-D552E9CD8C5D}"/>
              </a:ext>
            </a:extLst>
          </p:cNvPr>
          <p:cNvSpPr>
            <a:spLocks xmlns:a="http://schemas.openxmlformats.org/drawingml/2006/main" noGrp="1"/>
          </p:cNvSpPr>
          <p:nvPr/>
        </p:nvSpPr>
        <p:spPr>
          <a:xfrm xmlns:a="http://schemas.openxmlformats.org/drawingml/2006/main">
            <a:off x="666750" y="599122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55555"/>
                </a:solidFill>
                <a:latin typeface="Arial"/>
                <a:ea typeface="Arial"/>
                <a:cs typeface="Arial"/>
              </a:defRPr>
            </a:pPr>
            <a:r>
              <a:rPr sz="1350" b="0">
                <a:solidFill>
                  <a:srgbClr val="555555"/>
                </a:solidFill>
                <a:latin typeface="Arial"/>
                <a:ea typeface="Arial"/>
                <a:cs typeface="Arial"/>
              </a:rPr>
              <a:t>Screenshot feedback is automated test input, not Dahe Chen’s acceptance.</a:t>
            </a:r>
          </a:p>
        </p:txBody>
      </p:sp>
    </p:spTree>
    <p:extLst>
      <p:ext uri="{BB962C8B-B14F-4D97-AF65-F5344CB8AC3E}">
        <p14:creationId xmlns:p14="http://schemas.microsoft.com/office/powerpoint/2010/main" val="213659980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211B246-5B33-449F-A086-644D51A62231}"/>
              </a:ext>
            </a:extLst>
          </p:cNvPr>
          <p:cNvSpPr>
            <a:spLocks xmlns:a="http://schemas.openxmlformats.org/drawingml/2006/main" noGrp="1"/>
          </p:cNvSpPr>
          <p:nvPr/>
        </p:nvSpPr>
        <p:spPr>
          <a:xfrm xmlns:a="http://schemas.openxmlformats.org/drawingml/2006/main">
            <a:off x="647700" y="42862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11111"/>
                </a:solidFill>
                <a:latin typeface="Arial"/>
                <a:ea typeface="Arial"/>
                <a:cs typeface="Arial"/>
              </a:defRPr>
            </a:pPr>
            <a:r>
              <a:rPr sz="3225" b="1">
                <a:solidFill>
                  <a:srgbClr val="111111"/>
                </a:solidFill>
                <a:latin typeface="Arial"/>
                <a:ea typeface="Arial"/>
                <a:cs typeface="Arial"/>
              </a:rPr>
              <a:t>Observed results and failure checks</a:t>
            </a:r>
          </a:p>
        </p:txBody>
      </p:sp>
      <p:sp>
        <p:nvSpPr>
          <p:cNvPr id="2" name="page">
            <a:extLst xmlns:a="http://schemas.openxmlformats.org/drawingml/2006/main">
              <a:ext uri="{FF2B5EF4-FFF2-40B4-BE49-F238E27FC236}">
                <a16:creationId xmlns:a16="http://schemas.microsoft.com/office/drawing/2014/main" id="{2F322DB6-983F-433B-8DED-16129DFCE36A}"/>
              </a:ext>
            </a:extLst>
          </p:cNvPr>
          <p:cNvSpPr>
            <a:spLocks xmlns:a="http://schemas.openxmlformats.org/drawingml/2006/main" noGrp="1"/>
          </p:cNvSpPr>
          <p:nvPr/>
        </p:nvSpPr>
        <p:spPr>
          <a:xfrm xmlns:a="http://schemas.openxmlformats.org/drawingml/2006/main">
            <a:off x="11049000" y="64198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666666"/>
                </a:solidFill>
                <a:latin typeface="Arial"/>
                <a:ea typeface="Arial"/>
                <a:cs typeface="Arial"/>
              </a:defRPr>
            </a:pPr>
            <a:r>
              <a:rPr sz="1350" b="0">
                <a:solidFill>
                  <a:srgbClr val="666666"/>
                </a:solidFill>
                <a:latin typeface="Arial"/>
                <a:ea typeface="Arial"/>
                <a:cs typeface="Arial"/>
              </a:rPr>
              <a:t>09</a:t>
            </a:r>
          </a:p>
        </p:txBody>
      </p:sp>
      <p:graphicFrame>
        <p:nvGraphicFramePr>
          <p:cNvPr id="7" name=""/>
          <p:cNvGraphicFramePr/>
          <p:nvPr/>
        </p:nvGraphicFramePr>
        <p:xfrm>
          <a:off xmlns:a="http://schemas.openxmlformats.org/drawingml/2006/main" x="666750" y="1581150"/>
          <a:ext xmlns:a="http://schemas.openxmlformats.org/drawingml/2006/main" cx="10858500" cy="1838325"/>
        </p:xfrm>
        <a:graphic xmlns:a="http://schemas.openxmlformats.org/drawingml/2006/main">
          <a:graphicData uri="http://schemas.openxmlformats.org/drawingml/2006/table">
            <a:tbl>
              <a:tblPr firstRow="1" bandRow="0"/>
              <a:tblGrid>
                <a:gridCol w="2667000"/>
                <a:gridCol w="5857875"/>
                <a:gridCol w="2333625"/>
              </a:tblGrid>
              <a:tr h="612775">
                <a:tc>
                  <a:txBody>
                    <a:bodyPr lIns="114300" tIns="95250" rIns="95250" bIns="76200">
                      <a:noAutofit/>
                    </a:bodyPr>
                    <a:lstStyle/>
                    <a:p>
                      <a:r>
                        <a:rPr sz="1875" b="1">
                          <a:solidFill>
                            <a:srgbClr val="111111"/>
                          </a:solidFill>
                          <a:latin typeface="Arial"/>
                          <a:ea typeface="Arial"/>
                          <a:cs typeface="Arial"/>
                        </a:rPr>
                        <a:t>Development case</a:t>
                      </a:r>
                    </a:p>
                  </a:txBody>
                  <a:tcPr marL="91440" marR="91440" marT="45720" marB="45720">
                    <a:solidFill>
                      <a:srgbClr val="EEEEEE"/>
                    </a:solidFill>
                  </a:tcPr>
                </a:tc>
                <a:tc>
                  <a:txBody>
                    <a:bodyPr lIns="114300" tIns="95250" rIns="95250" bIns="76200">
                      <a:noAutofit/>
                    </a:bodyPr>
                    <a:lstStyle/>
                    <a:p>
                      <a:r>
                        <a:rPr sz="1875" b="1">
                          <a:solidFill>
                            <a:srgbClr val="111111"/>
                          </a:solidFill>
                          <a:latin typeface="Arial"/>
                          <a:ea typeface="Arial"/>
                          <a:cs typeface="Arial"/>
                        </a:rPr>
                        <a:t>Output</a:t>
                      </a:r>
                    </a:p>
                  </a:txBody>
                  <a:tcPr marL="91440" marR="91440" marT="45720" marB="45720">
                    <a:solidFill>
                      <a:srgbClr val="EEEEEE"/>
                    </a:solidFill>
                  </a:tcPr>
                </a:tc>
                <a:tc>
                  <a:txBody>
                    <a:bodyPr lIns="114300" tIns="95250" rIns="95250" bIns="76200">
                      <a:noAutofit/>
                    </a:bodyPr>
                    <a:lstStyle/>
                    <a:p>
                      <a:r>
                        <a:rPr sz="1875" b="1">
                          <a:solidFill>
                            <a:srgbClr val="111111"/>
                          </a:solidFill>
                          <a:latin typeface="Arial"/>
                          <a:ea typeface="Arial"/>
                          <a:cs typeface="Arial"/>
                        </a:rPr>
                        <a:t>Official score</a:t>
                      </a:r>
                    </a:p>
                  </a:txBody>
                  <a:tcPr marL="91440" marR="91440" marT="45720" marB="45720">
                    <a:solidFill>
                      <a:srgbClr val="EEEEEE"/>
                    </a:solidFill>
                  </a:tcPr>
                </a:tc>
              </a:tr>
              <a:tr h="612775">
                <a:tc>
                  <a:txBody>
                    <a:bodyPr lIns="114300" tIns="95250" rIns="95250" bIns="76200">
                      <a:noAutofit/>
                    </a:bodyPr>
                    <a:lstStyle/>
                    <a:p>
                      <a:r>
                        <a:rPr sz="1875" b="0">
                          <a:solidFill>
                            <a:srgbClr val="111111"/>
                          </a:solidFill>
                          <a:latin typeface="Arial"/>
                          <a:ea typeface="Arial"/>
                          <a:cs typeface="Arial"/>
                        </a:rPr>
                        <a:t>Bank 001</a:t>
                      </a:r>
                    </a:p>
                  </a:txBody>
                  <a:tcPr marL="91440" marR="91440" marT="45720" marB="45720">
                    <a:solidFill>
                      <a:srgbClr val="FFFFFF"/>
                    </a:solidFill>
                  </a:tcPr>
                </a:tc>
                <a:tc>
                  <a:txBody>
                    <a:bodyPr lIns="114300" tIns="95250" rIns="95250" bIns="76200">
                      <a:noAutofit/>
                    </a:bodyPr>
                    <a:lstStyle/>
                    <a:p>
                      <a:r>
                        <a:rPr sz="1875" b="0">
                          <a:solidFill>
                            <a:srgbClr val="111111"/>
                          </a:solidFill>
                          <a:latin typeface="Arial"/>
                          <a:ea typeface="Arial"/>
                          <a:cs typeface="Arial"/>
                        </a:rPr>
                        <a:t>Redis02 / high memory usage</a:t>
                      </a:r>
                    </a:p>
                  </a:txBody>
                  <a:tcPr marL="91440" marR="91440" marT="45720" marB="45720">
                    <a:solidFill>
                      <a:srgbClr val="FFFFFF"/>
                    </a:solidFill>
                  </a:tcPr>
                </a:tc>
                <a:tc>
                  <a:txBody>
                    <a:bodyPr lIns="114300" tIns="95250" rIns="95250" bIns="76200">
                      <a:noAutofit/>
                    </a:bodyPr>
                    <a:lstStyle/>
                    <a:p>
                      <a:r>
                        <a:rPr sz="1875" b="0">
                          <a:solidFill>
                            <a:srgbClr val="111111"/>
                          </a:solidFill>
                          <a:latin typeface="Arial"/>
                          <a:ea typeface="Arial"/>
                          <a:cs typeface="Arial"/>
                        </a:rPr>
                        <a:t>1.0</a:t>
                      </a:r>
                    </a:p>
                  </a:txBody>
                  <a:tcPr marL="91440" marR="91440" marT="45720" marB="45720">
                    <a:solidFill>
                      <a:srgbClr val="FFFFFF"/>
                    </a:solidFill>
                  </a:tcPr>
                </a:tc>
              </a:tr>
              <a:tr h="612775">
                <a:tc>
                  <a:txBody>
                    <a:bodyPr lIns="114300" tIns="95250" rIns="95250" bIns="76200">
                      <a:noAutofit/>
                    </a:bodyPr>
                    <a:lstStyle/>
                    <a:p>
                      <a:r>
                        <a:rPr sz="1875" b="0">
                          <a:solidFill>
                            <a:srgbClr val="111111"/>
                          </a:solidFill>
                          <a:latin typeface="Arial"/>
                          <a:ea typeface="Arial"/>
                          <a:cs typeface="Arial"/>
                        </a:rPr>
                        <a:t>Bank 004</a:t>
                      </a:r>
                    </a:p>
                  </a:txBody>
                  <a:tcPr marL="91440" marR="91440" marT="45720" marB="45720">
                    <a:solidFill>
                      <a:srgbClr val="FFFFFF"/>
                    </a:solidFill>
                  </a:tcPr>
                </a:tc>
                <a:tc>
                  <a:txBody>
                    <a:bodyPr lIns="114300" tIns="95250" rIns="95250" bIns="76200">
                      <a:noAutofit/>
                    </a:bodyPr>
                    <a:lstStyle/>
                    <a:p>
                      <a:r>
                        <a:rPr sz="1875" b="0">
                          <a:solidFill>
                            <a:srgbClr val="111111"/>
                          </a:solidFill>
                          <a:latin typeface="Arial"/>
                          <a:ea typeface="Arial"/>
                          <a:cs typeface="Arial"/>
                        </a:rPr>
                        <a:t>Tomcat04 / reason unresolved</a:t>
                      </a:r>
                    </a:p>
                  </a:txBody>
                  <a:tcPr marL="91440" marR="91440" marT="45720" marB="45720">
                    <a:solidFill>
                      <a:srgbClr val="FFFFFF"/>
                    </a:solidFill>
                  </a:tcPr>
                </a:tc>
                <a:tc>
                  <a:txBody>
                    <a:bodyPr lIns="114300" tIns="95250" rIns="95250" bIns="76200">
                      <a:noAutofit/>
                    </a:bodyPr>
                    <a:lstStyle/>
                    <a:p>
                      <a:r>
                        <a:rPr sz="1875" b="0">
                          <a:solidFill>
                            <a:srgbClr val="111111"/>
                          </a:solidFill>
                          <a:latin typeface="Arial"/>
                          <a:ea typeface="Arial"/>
                          <a:cs typeface="Arial"/>
                        </a:rPr>
                        <a:t>0.5</a:t>
                      </a:r>
                    </a:p>
                  </a:txBody>
                  <a:tcPr marL="91440" marR="91440" marT="45720" marB="45720">
                    <a:solidFill>
                      <a:srgbClr val="FFFFFF"/>
                    </a:solidFill>
                  </a:tcPr>
                </a:tc>
              </a:tr>
            </a:tbl>
          </a:graphicData>
        </a:graphic>
      </p:graphicFrame>
      <p:sp>
        <p:nvSpPr>
          <p:cNvPr id="4" name="bullets">
            <a:extLst xmlns:a="http://schemas.openxmlformats.org/drawingml/2006/main">
              <a:ext uri="{FF2B5EF4-FFF2-40B4-BE49-F238E27FC236}">
                <a16:creationId xmlns:a16="http://schemas.microsoft.com/office/drawing/2014/main" id="{EF7B20F0-B950-4FEC-A21D-2464F344C936}"/>
              </a:ext>
            </a:extLst>
          </p:cNvPr>
          <p:cNvSpPr>
            <a:spLocks xmlns:a="http://schemas.openxmlformats.org/drawingml/2006/main" noGrp="1"/>
          </p:cNvSpPr>
          <p:nvPr/>
        </p:nvSpPr>
        <p:spPr>
          <a:xfrm xmlns:a="http://schemas.openxmlformats.org/drawingml/2006/main">
            <a:off x="781050" y="3714750"/>
            <a:ext cx="10477500" cy="2009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241300" indent="-127000">
              <a:spcAft>
                <a:spcPts val="1100"/>
              </a:spcAft>
              <a:buChar char="•"/>
              <a:defRPr sz="1875" b="0">
                <a:solidFill>
                  <a:srgbClr val="111111"/>
                </a:solidFill>
                <a:latin typeface="Arial"/>
                <a:ea typeface="Arial"/>
                <a:cs typeface="Arial"/>
              </a:defRPr>
            </a:pPr>
            <a:r>
              <a:rPr sz="1875" b="0">
                <a:solidFill>
                  <a:srgbClr val="111111"/>
                </a:solidFill>
                <a:latin typeface="Arial"/>
                <a:ea typeface="Arial"/>
                <a:cs typeface="Arial"/>
              </a:rPr>
              <a:t>Nine checks cover input, sources, feedback, missing data, citations and errors.</a:t>
            </a:r>
          </a:p>
          <a:p xmlns:a="http://schemas.openxmlformats.org/drawingml/2006/main">
            <a:pPr marL="241300" indent="-127000">
              <a:spcAft>
                <a:spcPts val="1100"/>
              </a:spcAft>
              <a:buChar char="•"/>
              <a:defRPr sz="1875" b="0">
                <a:solidFill>
                  <a:srgbClr val="111111"/>
                </a:solidFill>
                <a:latin typeface="Arial"/>
                <a:ea typeface="Arial"/>
                <a:cs typeface="Arial"/>
              </a:defRPr>
            </a:pPr>
            <a:r>
              <a:rPr sz="1875" b="0">
                <a:solidFill>
                  <a:srgbClr val="111111"/>
                </a:solidFill>
                <a:latin typeface="Arial"/>
                <a:ea typeface="Arial"/>
                <a:cs typeface="Arial"/>
              </a:rPr>
              <a:t>Real browser checks cover language, export and case isolation.</a:t>
            </a:r>
          </a:p>
          <a:p xmlns:a="http://schemas.openxmlformats.org/drawingml/2006/main">
            <a:pPr marL="241300" indent="-127000">
              <a:spcAft>
                <a:spcPts val="1100"/>
              </a:spcAft>
              <a:buChar char="•"/>
              <a:defRPr sz="1875" b="0">
                <a:solidFill>
                  <a:srgbClr val="111111"/>
                </a:solidFill>
                <a:latin typeface="Arial"/>
                <a:ea typeface="Arial"/>
                <a:cs typeface="Arial"/>
              </a:defRPr>
            </a:pPr>
            <a:r>
              <a:rPr sz="1875" b="0">
                <a:solidFill>
                  <a:srgbClr val="111111"/>
                </a:solidFill>
                <a:latin typeface="Arial"/>
                <a:ea typeface="Arial"/>
                <a:cs typeface="Arial"/>
              </a:rPr>
              <a:t>Recorded failures include API 503 and an overly strict citation check.</a:t>
            </a:r>
          </a:p>
          <a:p xmlns:a="http://schemas.openxmlformats.org/drawingml/2006/main">
            <a:pPr marL="241300" indent="-127000">
              <a:spcAft>
                <a:spcPts val="1100"/>
              </a:spcAft>
              <a:buChar char="•"/>
              <a:defRPr sz="1875" b="0">
                <a:solidFill>
                  <a:srgbClr val="111111"/>
                </a:solidFill>
                <a:latin typeface="Arial"/>
                <a:ea typeface="Arial"/>
                <a:cs typeface="Arial"/>
              </a:defRPr>
            </a:pPr>
            <a:r>
              <a:rPr sz="1875" b="0">
                <a:solidFill>
                  <a:srgbClr val="111111"/>
                </a:solidFill>
                <a:latin typeface="Arial"/>
                <a:ea typeface="Arial"/>
                <a:cs typeface="Arial"/>
              </a:rPr>
              <a:t>Scores above describe selected runs; all attempts remain in the audit.</a:t>
            </a:r>
          </a:p>
        </p:txBody>
      </p:sp>
    </p:spTree>
    <p:extLst>
      <p:ext uri="{BB962C8B-B14F-4D97-AF65-F5344CB8AC3E}">
        <p14:creationId xmlns:p14="http://schemas.microsoft.com/office/powerpoint/2010/main" val="125321199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8768B6A-CEA7-445C-90B2-A6456578437F}"/>
              </a:ext>
            </a:extLst>
          </p:cNvPr>
          <p:cNvSpPr>
            <a:spLocks xmlns:a="http://schemas.openxmlformats.org/drawingml/2006/main" noGrp="1"/>
          </p:cNvSpPr>
          <p:nvPr/>
        </p:nvSpPr>
        <p:spPr>
          <a:xfrm xmlns:a="http://schemas.openxmlformats.org/drawingml/2006/main">
            <a:off x="647700" y="428625"/>
            <a:ext cx="10858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111111"/>
                </a:solidFill>
                <a:latin typeface="Arial"/>
                <a:ea typeface="Arial"/>
                <a:cs typeface="Arial"/>
              </a:defRPr>
            </a:pPr>
            <a:r>
              <a:rPr sz="3225" b="1">
                <a:solidFill>
                  <a:srgbClr val="111111"/>
                </a:solidFill>
                <a:latin typeface="Arial"/>
                <a:ea typeface="Arial"/>
                <a:cs typeface="Arial"/>
              </a:rPr>
              <a:t>Limits and next application features</a:t>
            </a:r>
          </a:p>
        </p:txBody>
      </p:sp>
      <p:sp>
        <p:nvSpPr>
          <p:cNvPr id="2" name="page">
            <a:extLst xmlns:a="http://schemas.openxmlformats.org/drawingml/2006/main">
              <a:ext uri="{FF2B5EF4-FFF2-40B4-BE49-F238E27FC236}">
                <a16:creationId xmlns:a16="http://schemas.microsoft.com/office/drawing/2014/main" id="{7383E59E-586A-4DB9-B64A-E98EC71F7DBE}"/>
              </a:ext>
            </a:extLst>
          </p:cNvPr>
          <p:cNvSpPr>
            <a:spLocks xmlns:a="http://schemas.openxmlformats.org/drawingml/2006/main" noGrp="1"/>
          </p:cNvSpPr>
          <p:nvPr/>
        </p:nvSpPr>
        <p:spPr>
          <a:xfrm xmlns:a="http://schemas.openxmlformats.org/drawingml/2006/main">
            <a:off x="11049000" y="6419850"/>
            <a:ext cx="5238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666666"/>
                </a:solidFill>
                <a:latin typeface="Arial"/>
                <a:ea typeface="Arial"/>
                <a:cs typeface="Arial"/>
              </a:defRPr>
            </a:pPr>
            <a:r>
              <a:rPr sz="1350" b="0">
                <a:solidFill>
                  <a:srgbClr val="666666"/>
                </a:solidFill>
                <a:latin typeface="Arial"/>
                <a:ea typeface="Arial"/>
                <a:cs typeface="Arial"/>
              </a:rPr>
              <a:t>10</a:t>
            </a:r>
          </a:p>
        </p:txBody>
      </p:sp>
      <p:sp>
        <p:nvSpPr>
          <p:cNvPr id="3" name="bullets">
            <a:extLst xmlns:a="http://schemas.openxmlformats.org/drawingml/2006/main">
              <a:ext uri="{FF2B5EF4-FFF2-40B4-BE49-F238E27FC236}">
                <a16:creationId xmlns:a16="http://schemas.microsoft.com/office/drawing/2014/main" id="{0E9C00FD-6DF9-4F3C-BDDF-AE682A73EE11}"/>
              </a:ext>
            </a:extLst>
          </p:cNvPr>
          <p:cNvSpPr>
            <a:spLocks xmlns:a="http://schemas.openxmlformats.org/drawingml/2006/main" noGrp="1"/>
          </p:cNvSpPr>
          <p:nvPr/>
        </p:nvSpPr>
        <p:spPr>
          <a:xfrm xmlns:a="http://schemas.openxmlformats.org/drawingml/2006/main">
            <a:off x="781050" y="1733550"/>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marL="241300" indent="-127000">
              <a:spcAft>
                <a:spcPts val="1600"/>
              </a:spcAft>
              <a:buChar char="•"/>
              <a:defRPr sz="2100" b="0">
                <a:solidFill>
                  <a:srgbClr val="111111"/>
                </a:solidFill>
                <a:latin typeface="Arial"/>
                <a:ea typeface="Arial"/>
                <a:cs typeface="Arial"/>
              </a:defRPr>
            </a:pPr>
            <a:r>
              <a:rPr sz="2100" b="0">
                <a:solidFill>
                  <a:srgbClr val="111111"/>
                </a:solidFill>
                <a:latin typeface="Arial"/>
                <a:ea typeface="Arial"/>
                <a:cs typeface="Arial"/>
              </a:rPr>
              <a:t>Current limit: two development cases and retrospective daily baselines.</a:t>
            </a:r>
          </a:p>
          <a:p xmlns:a="http://schemas.openxmlformats.org/drawingml/2006/main">
            <a:pPr marL="241300" indent="-127000">
              <a:spcAft>
                <a:spcPts val="1600"/>
              </a:spcAft>
              <a:buChar char="•"/>
              <a:defRPr sz="2100" b="0">
                <a:solidFill>
                  <a:srgbClr val="111111"/>
                </a:solidFill>
                <a:latin typeface="Arial"/>
                <a:ea typeface="Arial"/>
                <a:cs typeface="Arial"/>
              </a:defRPr>
            </a:pPr>
            <a:r>
              <a:rPr sz="2100" b="0">
                <a:solidFill>
                  <a:srgbClr val="111111"/>
                </a:solidFill>
                <a:latin typeface="Arial"/>
                <a:ea typeface="Arial"/>
                <a:cs typeface="Arial"/>
              </a:rPr>
              <a:t>Network latency and packet loss remain unresolved in this MVP.</a:t>
            </a:r>
          </a:p>
          <a:p xmlns:a="http://schemas.openxmlformats.org/drawingml/2006/main">
            <a:pPr marL="241300" indent="-127000">
              <a:spcAft>
                <a:spcPts val="1600"/>
              </a:spcAft>
              <a:buChar char="•"/>
              <a:defRPr sz="2100" b="0">
                <a:solidFill>
                  <a:srgbClr val="111111"/>
                </a:solidFill>
                <a:latin typeface="Arial"/>
                <a:ea typeface="Arial"/>
                <a:cs typeface="Arial"/>
              </a:defRPr>
            </a:pPr>
            <a:r>
              <a:rPr sz="2100" b="0">
                <a:solidFill>
                  <a:srgbClr val="111111"/>
                </a:solidFill>
                <a:latin typeface="Arial"/>
                <a:ea typeface="Arial"/>
                <a:cs typeface="Arial"/>
              </a:rPr>
              <a:t>Challenge 3: compare component evidence and ask bounded follow-up questions.</a:t>
            </a:r>
          </a:p>
          <a:p xmlns:a="http://schemas.openxmlformats.org/drawingml/2006/main">
            <a:pPr marL="241300" indent="-127000">
              <a:spcAft>
                <a:spcPts val="1600"/>
              </a:spcAft>
              <a:buChar char="•"/>
              <a:defRPr sz="2100" b="0">
                <a:solidFill>
                  <a:srgbClr val="111111"/>
                </a:solidFill>
                <a:latin typeface="Arial"/>
                <a:ea typeface="Arial"/>
                <a:cs typeface="Arial"/>
              </a:defRPr>
            </a:pPr>
            <a:r>
              <a:rPr sz="2100" b="0">
                <a:solidFill>
                  <a:srgbClr val="111111"/>
                </a:solidFill>
                <a:latin typeface="Arial"/>
                <a:ea typeface="Arial"/>
                <a:cs typeface="Arial"/>
              </a:rPr>
              <a:t>Challenge 4: evaluate investigation with incomplete or conflicting evidence.</a:t>
            </a:r>
          </a:p>
          <a:p xmlns:a="http://schemas.openxmlformats.org/drawingml/2006/main">
            <a:pPr marL="241300" indent="-127000">
              <a:spcAft>
                <a:spcPts val="1600"/>
              </a:spcAft>
              <a:buChar char="•"/>
              <a:defRPr sz="2100" b="0">
                <a:solidFill>
                  <a:srgbClr val="111111"/>
                </a:solidFill>
                <a:latin typeface="Arial"/>
                <a:ea typeface="Arial"/>
                <a:cs typeface="Arial"/>
              </a:defRPr>
            </a:pPr>
            <a:r>
              <a:rPr sz="2100" b="0">
                <a:solidFill>
                  <a:srgbClr val="111111"/>
                </a:solidFill>
                <a:latin typeface="Arial"/>
                <a:ea typeface="Arial"/>
                <a:cs typeface="Arial"/>
              </a:rPr>
              <a:t>Challenge 5: integration, reproducibility and final demonstration.</a:t>
            </a:r>
          </a:p>
        </p:txBody>
      </p:sp>
      <p:sp>
        <p:nvSpPr>
          <p:cNvPr id="4" name="source">
            <a:extLst xmlns:a="http://schemas.openxmlformats.org/drawingml/2006/main">
              <a:ext uri="{FF2B5EF4-FFF2-40B4-BE49-F238E27FC236}">
                <a16:creationId xmlns:a16="http://schemas.microsoft.com/office/drawing/2014/main" id="{5B5A5848-A8D1-4CBD-8037-516D4C85B9C5}"/>
              </a:ext>
            </a:extLst>
          </p:cNvPr>
          <p:cNvSpPr>
            <a:spLocks xmlns:a="http://schemas.openxmlformats.org/drawingml/2006/main" noGrp="1"/>
          </p:cNvSpPr>
          <p:nvPr/>
        </p:nvSpPr>
        <p:spPr>
          <a:xfrm xmlns:a="http://schemas.openxmlformats.org/drawingml/2006/main">
            <a:off x="666750" y="5991225"/>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350" b="0">
                <a:solidFill>
                  <a:srgbClr val="555555"/>
                </a:solidFill>
                <a:latin typeface="Arial"/>
                <a:ea typeface="Arial"/>
                <a:cs typeface="Arial"/>
              </a:defRPr>
            </a:pPr>
            <a:r>
              <a:rPr sz="1350" b="0">
                <a:solidFill>
                  <a:srgbClr val="555555"/>
                </a:solidFill>
                <a:latin typeface="Arial"/>
                <a:ea typeface="Arial"/>
                <a:cs typeface="Arial"/>
              </a:rPr>
              <a:t>https://github.com/chendahe666/AutoTriager-CoDesign</a:t>
            </a:r>
          </a:p>
        </p:txBody>
      </p:sp>
    </p:spTree>
    <p:extLst>
      <p:ext uri="{BB962C8B-B14F-4D97-AF65-F5344CB8AC3E}">
        <p14:creationId xmlns:p14="http://schemas.microsoft.com/office/powerpoint/2010/main" val="20424864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2026-09-22T02:35:47.0260000Z</dcterms:created>
  <dcterms:modified xsi:type="dcterms:W3CDTF">2026-09-22T02:35:47.0260000Z</dcterms:modified>
</coreProperties>
</file>